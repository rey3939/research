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【使用位置】添付PDF「中間審査会スライド_大橋怜倭.pdf」の16ページ「実施目的」の差し替え用です。15ページの節見出しと17ページの実施手順をつなぐ1枚です。</a:t>
            </a:r>
          </a:p>
          <a:p/>
          <a:p>
            <a:r>
              <a:t>【説明原稿・約60〜75秒】</a:t>
            </a:r>
          </a:p>
          <a:p>
            <a:r>
              <a:t>このモデルを用いる目的は、粒子回転を省いた単純なモデルで、どこまで磁場を推定できるかを明らかにすることです。先行研究では、別材料であるPMFUEを一様圧縮した場合、1パーセントの圧縮あたり0.536度の粒子回転が報告されています。本研究のPMEでも、粒子回転が磁場に関与する可能性を考えています。一方、同じ曲率で曲げる場合、試料を薄くすると厚さ方向のひずみ差が小さくなるので、粒子回転による磁場への影響も小さくできるのではないかと考えました。そこで、粒子単独の追加回転を省いたモデルを構築し、厚みごとに実測値と比較します。誤差の範囲内で一致する条件が見つかれば、その条件では回転の影響を省いて磁場を推定できることを支持します。これにより、回転の影響を省ける条件という学術的知見と、薄板PMEの磁場を単純なモデルで予測する設計基盤につなげます。</a:t>
            </a:r>
          </a:p>
          <a:p/>
          <a:p>
            <a:r>
              <a:t>【前の実験結果との関係】</a:t>
            </a:r>
          </a:p>
          <a:p>
            <a:r>
              <a:t>14ページでは厚い試料で感度が高くなることを示しています。一方、ここでは薄板化で単純モデルを使える条件を調べます。目的は異なるため、薄くするほど全てのセンサ性能が良くなると主張するものではありません。最終的には、感度・柔軟性・予測のしやすさを両立する設計につなげます。</a:t>
            </a:r>
          </a:p>
          <a:p/>
          <a:p>
            <a:r>
              <a:t>【仮説の背景】</a:t>
            </a:r>
          </a:p>
          <a:p>
            <a:r>
              <a:t>単純な梁の純曲げを考えると、中立軸からの距離zにおける軸方向ひずみは ε≈κz、表面ひずみの大きさは |ε|max≈κt/2 です。同じ曲率κであれば、厚みtが小さいほど厚さ方向のひずみ差が小さくなります。ただし、ひずみの縮小が磁性微粒子の追加回転や磁場寄与の縮小につながることは、今回検証する仮説です。図は、この可能性を説明するための模式図です。薄板化だけで影響が必ずゼロになると仮定していません。同じ荷重を与える場合は厚みによって曲率が変わるため、同じ曲率・変形条件での比較という前提が必要です。</a:t>
            </a:r>
          </a:p>
          <a:p/>
          <a:p>
            <a:r>
              <a:t>【何の回転を省略するか】</a:t>
            </a:r>
          </a:p>
          <a:p>
            <a:r>
              <a:t>添付資料17ページは「内部粒子は母材に完全追従」「粒子単独の回転を考慮しない」としています。このため本スライドも、母材に対する粒子単独の追加回転を省略するモデルとして表現しました。母材の並進・断面の回転に伴う磁化方向の変化を含めるか、磁化方向を全体座標で固定するかは区別が必要です。添付資料35ページには「回転無し」という表現もあるため、モデル実装時には、局所座標に追従する回転と粒子の追加回転を分けて定義してください。このスライドは、磁化方向を全体座標で固定する仕様を新たに決定するものではありません。</a:t>
            </a:r>
          </a:p>
          <a:p/>
          <a:p>
            <a:r>
              <a:t>【0.536°の扱い】</a:t>
            </a:r>
          </a:p>
          <a:p>
            <a:r>
              <a:t>0.536°／1%圧縮は、提供資料24ページに記載されたPMFUEの先行研究の報告値です。原論文・修士論文本文での定義や取得方法を追加確認したものではありません。個々の粒子が同じ向きに一律0.536°ずつ回るという意味で図示していません。PMFUEと本研究のPMEでは材料と変形条件が異なるため、数値をそのままPMEの曲げへ移植しないでください。図の回転角も報告値を縮尺通りに示したものではありません。</a:t>
            </a:r>
          </a:p>
          <a:p/>
          <a:p>
            <a:r>
              <a:t>【一致から主張できる範囲】</a:t>
            </a:r>
          </a:p>
          <a:p>
            <a:r>
              <a:t>モデルと実測が一致しても「粒子が回転していない」とは断定できません。妥当性を確認した比較の下で、評価した厚み・変位・計測位置・精度の範囲では、回転の寄与をモデルへ追加せずに予測できることを支持する、という操作的な結論になります。測定誤差やノイズ、境界条件、形状再現、磁化量、材料定数、数値離散化、断面変形などの不確かさを確認してください。比較データだけに合わせてパラメータを調整し過ぎず、複数条件や未使用データでも確認すると、単なる当てはめと予測能力を区別できます。薄い試料は信号が小さくなるため、低いS/N比で差が見えない状態を「寄与が小さい」と取り違えないことも必要です。</a:t>
            </a:r>
          </a:p>
          <a:p/>
          <a:p>
            <a:r>
              <a:t>不一致の場合も、それだけで粒子回転を原因と断定できません。原資料17ページの「差が増大した厚み＝回転を無視できない」は、「差が増大した厚みで、回転等の追加効果の必要性を検討する」とすると、この目的と整合します。</a:t>
            </a:r>
          </a:p>
          <a:p/>
          <a:p>
            <a:r>
              <a:t>【図の意味】</a:t>
            </a:r>
          </a:p>
          <a:p>
            <a:r>
              <a:t>内部粒子の図、厚い／薄い試料、比較グラフは全て模式図です。粒子回転の測定結果、モデルが一致した結果、厚みの限界値が既に得られたことを示すものではありません。今後のモデル構築・検証の目的を説明しています。</a:t>
            </a:r>
          </a:p>
          <a:p/>
          <a:p>
            <a:r>
              <a:t>【編集方法】</a:t>
            </a:r>
          </a:p>
          <a:p>
            <a:r>
              <a:t>全てPowerPointの図形・線・矢印・テキストボックスです。文字を直接編集するか、グループを解除して形や色を変更できます。Yu Gothic（游ゴシック）を指定しています。確認用PDFは同じ配置をもとに作成した画像ベースのプレビューであり、Microsoft PowerPointによる描画確認は行っていません。</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16ページ実施目的：全体（編集可能）"/>
          <p:cNvGrpSpPr/>
          <p:nvPr/>
        </p:nvGrpSpPr>
        <p:grpSpPr>
          <a:xfrm>
            <a:off x="0" y="167640"/>
            <a:ext cx="12192000" cy="6637020"/>
            <a:chOff x="0" y="167640"/>
            <a:chExt cx="12192000" cy="6637020"/>
          </a:xfrm>
        </p:grpSpPr>
        <p:grpSp>
          <p:nvGrpSpPr>
            <p:cNvPr id="3" name="見出しとフッター"/>
            <p:cNvGrpSpPr/>
            <p:nvPr/>
          </p:nvGrpSpPr>
          <p:grpSpPr>
            <a:xfrm>
              <a:off x="0" y="167640"/>
              <a:ext cx="12192000" cy="6637020"/>
              <a:chOff x="0" y="167640"/>
              <a:chExt cx="12192000" cy="6637020"/>
            </a:xfrm>
          </p:grpSpPr>
          <p:sp>
            <p:nvSpPr>
              <p:cNvPr id="4" name="TextBox 3"/>
              <p:cNvSpPr txBox="1"/>
              <p:nvPr/>
            </p:nvSpPr>
            <p:spPr>
              <a:xfrm>
                <a:off x="381000" y="167640"/>
                <a:ext cx="11315700" cy="594360"/>
              </a:xfrm>
              <a:prstGeom prst="rect">
                <a:avLst/>
              </a:prstGeom>
              <a:noFill/>
            </p:spPr>
            <p:txBody>
              <a:bodyPr wrap="none" lIns="0" rIns="0" tIns="0" bIns="0" anchor="t">
                <a:spAutoFit/>
              </a:bodyPr>
              <a:lstStyle/>
              <a:p>
                <a:pPr algn="l">
                  <a:lnSpc>
                    <a:spcPts val="3840"/>
                  </a:lnSpc>
                  <a:spcBef>
                    <a:spcPts val="0"/>
                  </a:spcBef>
                  <a:spcAft>
                    <a:spcPts val="0"/>
                  </a:spcAft>
                </a:pPr>
                <a:r>
                  <a:rPr sz="3000" b="1">
                    <a:solidFill>
                      <a:srgbClr val="121212"/>
                    </a:solidFill>
                    <a:latin typeface="Yu Gothic"/>
                    <a:ea typeface="Yu Gothic"/>
                  </a:rPr>
                  <a:t>実施目的：粒子回転の影響を省ける条件を調べる</a:t>
                </a:r>
              </a:p>
            </p:txBody>
          </p:sp>
          <p:sp>
            <p:nvSpPr>
              <p:cNvPr id="5" name="Rectangle 4"/>
              <p:cNvSpPr/>
              <p:nvPr/>
            </p:nvSpPr>
            <p:spPr>
              <a:xfrm>
                <a:off x="0" y="845820"/>
                <a:ext cx="12192000" cy="99060"/>
              </a:xfrm>
              <a:prstGeom prst="rect">
                <a:avLst/>
              </a:prstGeom>
              <a:solidFill>
                <a:srgbClr val="8585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52600" y="6560820"/>
                <a:ext cx="8534400" cy="243840"/>
              </a:xfrm>
              <a:prstGeom prst="rect">
                <a:avLst/>
              </a:prstGeom>
              <a:noFill/>
            </p:spPr>
            <p:txBody>
              <a:bodyPr wrap="none" lIns="0" rIns="0" tIns="0" bIns="0" anchor="t">
                <a:spAutoFit/>
              </a:bodyPr>
              <a:lstStyle/>
              <a:p>
                <a:pPr algn="ctr">
                  <a:lnSpc>
                    <a:spcPts val="1612"/>
                  </a:lnSpc>
                  <a:spcBef>
                    <a:spcPts val="0"/>
                  </a:spcBef>
                  <a:spcAft>
                    <a:spcPts val="0"/>
                  </a:spcAft>
                </a:pPr>
                <a:r>
                  <a:rPr sz="1260" b="0">
                    <a:solidFill>
                      <a:srgbClr val="121212"/>
                    </a:solidFill>
                    <a:latin typeface="Yu Gothic"/>
                    <a:ea typeface="Yu Gothic"/>
                  </a:rPr>
                  <a:t>Function Design Laboratory, Nagoya Institute of Technology</a:t>
                </a:r>
              </a:p>
            </p:txBody>
          </p:sp>
          <p:sp>
            <p:nvSpPr>
              <p:cNvPr id="7" name="TextBox 6"/>
              <p:cNvSpPr txBox="1"/>
              <p:nvPr/>
            </p:nvSpPr>
            <p:spPr>
              <a:xfrm>
                <a:off x="11163300" y="6553200"/>
                <a:ext cx="609600" cy="243840"/>
              </a:xfrm>
              <a:prstGeom prst="rect">
                <a:avLst/>
              </a:prstGeom>
              <a:noFill/>
            </p:spPr>
            <p:txBody>
              <a:bodyPr wrap="none" lIns="0" rIns="0" tIns="0" bIns="0" anchor="t">
                <a:spAutoFit/>
              </a:bodyPr>
              <a:lstStyle/>
              <a:p>
                <a:pPr algn="r">
                  <a:lnSpc>
                    <a:spcPts val="1766"/>
                  </a:lnSpc>
                  <a:spcBef>
                    <a:spcPts val="0"/>
                  </a:spcBef>
                  <a:spcAft>
                    <a:spcPts val="0"/>
                  </a:spcAft>
                </a:pPr>
                <a:r>
                  <a:rPr sz="1380" b="0">
                    <a:solidFill>
                      <a:srgbClr val="121212"/>
                    </a:solidFill>
                    <a:latin typeface="Yu Gothic"/>
                    <a:ea typeface="Yu Gothic"/>
                  </a:rPr>
                  <a:t>16</a:t>
                </a:r>
              </a:p>
            </p:txBody>
          </p:sp>
        </p:grpSp>
        <p:grpSp>
          <p:nvGrpSpPr>
            <p:cNvPr id="8" name="目的の要約"/>
            <p:cNvGrpSpPr/>
            <p:nvPr/>
          </p:nvGrpSpPr>
          <p:grpSpPr>
            <a:xfrm>
              <a:off x="563880" y="1165860"/>
              <a:ext cx="11064240" cy="419100"/>
              <a:chOff x="563880" y="1165860"/>
              <a:chExt cx="11064240" cy="419100"/>
            </a:xfrm>
          </p:grpSpPr>
          <p:sp>
            <p:nvSpPr>
              <p:cNvPr id="9" name="TextBox 8"/>
              <p:cNvSpPr txBox="1"/>
              <p:nvPr/>
            </p:nvSpPr>
            <p:spPr>
              <a:xfrm>
                <a:off x="563880" y="1165860"/>
                <a:ext cx="11064240" cy="419100"/>
              </a:xfrm>
              <a:prstGeom prst="rect">
                <a:avLst/>
              </a:prstGeom>
              <a:noFill/>
            </p:spPr>
            <p:txBody>
              <a:bodyPr wrap="none" lIns="0" rIns="0" tIns="0" bIns="0" anchor="t">
                <a:spAutoFit/>
              </a:bodyPr>
              <a:lstStyle/>
              <a:p>
                <a:pPr algn="ctr">
                  <a:lnSpc>
                    <a:spcPts val="2611"/>
                  </a:lnSpc>
                  <a:spcBef>
                    <a:spcPts val="0"/>
                  </a:spcBef>
                  <a:spcAft>
                    <a:spcPts val="0"/>
                  </a:spcAft>
                </a:pPr>
                <a:r>
                  <a:rPr sz="2039" b="1">
                    <a:solidFill>
                      <a:srgbClr val="007F86"/>
                    </a:solidFill>
                    <a:latin typeface="Yu Gothic"/>
                    <a:ea typeface="Yu Gothic"/>
                  </a:rPr>
                  <a:t>単純なモデルで磁場を推定できる、薄板PMEの厚み範囲を明らかにする</a:t>
                </a:r>
              </a:p>
            </p:txBody>
          </p:sp>
        </p:grpSp>
        <p:grpSp>
          <p:nvGrpSpPr>
            <p:cNvPr id="10" name="1 先行研究：回転が関与"/>
            <p:cNvGrpSpPr/>
            <p:nvPr/>
          </p:nvGrpSpPr>
          <p:grpSpPr>
            <a:xfrm>
              <a:off x="533400" y="1805940"/>
              <a:ext cx="3200400" cy="2644140"/>
              <a:chOff x="533400" y="1805940"/>
              <a:chExt cx="3200400" cy="2644140"/>
            </a:xfrm>
          </p:grpSpPr>
          <p:sp>
            <p:nvSpPr>
              <p:cNvPr id="11" name="Rounded Rectangle 10"/>
              <p:cNvSpPr/>
              <p:nvPr/>
            </p:nvSpPr>
            <p:spPr>
              <a:xfrm>
                <a:off x="533400" y="1805940"/>
                <a:ext cx="3200400" cy="2644140"/>
              </a:xfrm>
              <a:prstGeom prst="roundRect">
                <a:avLst>
                  <a:gd name="adj" fmla="val 5187"/>
                </a:avLst>
              </a:prstGeom>
              <a:solidFill>
                <a:srgbClr val="EA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43100"/>
                <a:ext cx="2895600" cy="381000"/>
              </a:xfrm>
              <a:prstGeom prst="rect">
                <a:avLst/>
              </a:prstGeom>
              <a:noFill/>
            </p:spPr>
            <p:txBody>
              <a:bodyPr wrap="none" lIns="0" rIns="0" tIns="0" bIns="0" anchor="t">
                <a:spAutoFit/>
              </a:bodyPr>
              <a:lstStyle/>
              <a:p>
                <a:pPr algn="ctr">
                  <a:lnSpc>
                    <a:spcPts val="2227"/>
                  </a:lnSpc>
                  <a:spcBef>
                    <a:spcPts val="0"/>
                  </a:spcBef>
                  <a:spcAft>
                    <a:spcPts val="0"/>
                  </a:spcAft>
                </a:pPr>
                <a:r>
                  <a:rPr sz="1739" b="1">
                    <a:solidFill>
                      <a:srgbClr val="2377C5"/>
                    </a:solidFill>
                    <a:latin typeface="Yu Gothic"/>
                    <a:ea typeface="Yu Gothic"/>
                  </a:rPr>
                  <a:t>1 先行研究：回転が関与</a:t>
                </a:r>
              </a:p>
            </p:txBody>
          </p:sp>
        </p:grpSp>
        <p:grpSp>
          <p:nvGrpSpPr>
            <p:cNvPr id="13" name="2 仮説：薄くすると影響が減る"/>
            <p:cNvGrpSpPr/>
            <p:nvPr/>
          </p:nvGrpSpPr>
          <p:grpSpPr>
            <a:xfrm>
              <a:off x="4038600" y="1805940"/>
              <a:ext cx="3810000" cy="2644140"/>
              <a:chOff x="4038600" y="1805940"/>
              <a:chExt cx="3810000" cy="2644140"/>
            </a:xfrm>
          </p:grpSpPr>
          <p:sp>
            <p:nvSpPr>
              <p:cNvPr id="14" name="Rounded Rectangle 13"/>
              <p:cNvSpPr/>
              <p:nvPr/>
            </p:nvSpPr>
            <p:spPr>
              <a:xfrm>
                <a:off x="4038600" y="1805940"/>
                <a:ext cx="3810000" cy="2644140"/>
              </a:xfrm>
              <a:prstGeom prst="roundRect">
                <a:avLst>
                  <a:gd name="adj" fmla="val 5187"/>
                </a:avLst>
              </a:prstGeom>
              <a:solidFill>
                <a:srgbClr val="FCE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0" y="1943100"/>
                <a:ext cx="3505200" cy="381000"/>
              </a:xfrm>
              <a:prstGeom prst="rect">
                <a:avLst/>
              </a:prstGeom>
              <a:noFill/>
            </p:spPr>
            <p:txBody>
              <a:bodyPr wrap="none" lIns="0" rIns="0" tIns="0" bIns="0" anchor="t">
                <a:spAutoFit/>
              </a:bodyPr>
              <a:lstStyle/>
              <a:p>
                <a:pPr algn="ctr">
                  <a:lnSpc>
                    <a:spcPts val="2227"/>
                  </a:lnSpc>
                  <a:spcBef>
                    <a:spcPts val="0"/>
                  </a:spcBef>
                  <a:spcAft>
                    <a:spcPts val="0"/>
                  </a:spcAft>
                </a:pPr>
                <a:r>
                  <a:rPr sz="1739" b="1">
                    <a:solidFill>
                      <a:srgbClr val="D86B35"/>
                    </a:solidFill>
                    <a:latin typeface="Yu Gothic"/>
                    <a:ea typeface="Yu Gothic"/>
                  </a:rPr>
                  <a:t>2 仮説：薄くすると影響が減る</a:t>
                </a:r>
              </a:p>
            </p:txBody>
          </p:sp>
        </p:grpSp>
        <p:grpSp>
          <p:nvGrpSpPr>
            <p:cNvPr id="16" name="3 モデルと実測で検証"/>
            <p:cNvGrpSpPr/>
            <p:nvPr/>
          </p:nvGrpSpPr>
          <p:grpSpPr>
            <a:xfrm>
              <a:off x="8153400" y="1805940"/>
              <a:ext cx="3505200" cy="2644140"/>
              <a:chOff x="8153400" y="1805940"/>
              <a:chExt cx="3505200" cy="2644140"/>
            </a:xfrm>
          </p:grpSpPr>
          <p:sp>
            <p:nvSpPr>
              <p:cNvPr id="17" name="Rounded Rectangle 16"/>
              <p:cNvSpPr/>
              <p:nvPr/>
            </p:nvSpPr>
            <p:spPr>
              <a:xfrm>
                <a:off x="8153400" y="1805940"/>
                <a:ext cx="3505200" cy="2644140"/>
              </a:xfrm>
              <a:prstGeom prst="roundRect">
                <a:avLst>
                  <a:gd name="adj" fmla="val 5187"/>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5800" y="1943100"/>
                <a:ext cx="3200400" cy="381000"/>
              </a:xfrm>
              <a:prstGeom prst="rect">
                <a:avLst/>
              </a:prstGeom>
              <a:noFill/>
            </p:spPr>
            <p:txBody>
              <a:bodyPr wrap="none" lIns="0" rIns="0" tIns="0" bIns="0" anchor="t">
                <a:spAutoFit/>
              </a:bodyPr>
              <a:lstStyle/>
              <a:p>
                <a:pPr algn="ctr">
                  <a:lnSpc>
                    <a:spcPts val="2227"/>
                  </a:lnSpc>
                  <a:spcBef>
                    <a:spcPts val="0"/>
                  </a:spcBef>
                  <a:spcAft>
                    <a:spcPts val="0"/>
                  </a:spcAft>
                </a:pPr>
                <a:r>
                  <a:rPr sz="1739" b="1">
                    <a:solidFill>
                      <a:srgbClr val="142C44"/>
                    </a:solidFill>
                    <a:latin typeface="Yu Gothic"/>
                    <a:ea typeface="Yu Gothic"/>
                  </a:rPr>
                  <a:t>3 モデルと実測で検証</a:t>
                </a:r>
              </a:p>
            </p:txBody>
          </p:sp>
        </p:grpSp>
        <p:grpSp>
          <p:nvGrpSpPr>
            <p:cNvPr id="19" name="先行研究の例：PMFUEは本研究とは別材料"/>
            <p:cNvGrpSpPr/>
            <p:nvPr/>
          </p:nvGrpSpPr>
          <p:grpSpPr>
            <a:xfrm>
              <a:off x="685800" y="2407920"/>
              <a:ext cx="2895600" cy="1950720"/>
              <a:chOff x="685800" y="2407920"/>
              <a:chExt cx="2895600" cy="1950720"/>
            </a:xfrm>
          </p:grpSpPr>
          <p:sp>
            <p:nvSpPr>
              <p:cNvPr id="20" name="TextBox 19"/>
              <p:cNvSpPr txBox="1"/>
              <p:nvPr/>
            </p:nvSpPr>
            <p:spPr>
              <a:xfrm>
                <a:off x="685800" y="2407920"/>
                <a:ext cx="2895600" cy="304800"/>
              </a:xfrm>
              <a:prstGeom prst="rect">
                <a:avLst/>
              </a:prstGeom>
              <a:noFill/>
            </p:spPr>
            <p:txBody>
              <a:bodyPr wrap="none" lIns="0" rIns="0" tIns="0" bIns="0" anchor="t">
                <a:spAutoFit/>
              </a:bodyPr>
              <a:lstStyle/>
              <a:p>
                <a:pPr algn="ctr">
                  <a:lnSpc>
                    <a:spcPts val="1766"/>
                  </a:lnSpc>
                  <a:spcBef>
                    <a:spcPts val="0"/>
                  </a:spcBef>
                  <a:spcAft>
                    <a:spcPts val="0"/>
                  </a:spcAft>
                </a:pPr>
                <a:r>
                  <a:rPr sz="1380" b="1">
                    <a:solidFill>
                      <a:srgbClr val="121212"/>
                    </a:solidFill>
                    <a:latin typeface="Yu Gothic"/>
                    <a:ea typeface="Yu Gothic"/>
                  </a:rPr>
                  <a:t>PMFUE（別材料）の一様圧縮</a:t>
                </a:r>
              </a:p>
            </p:txBody>
          </p:sp>
          <p:sp>
            <p:nvSpPr>
              <p:cNvPr id="21" name="TextBox 20"/>
              <p:cNvSpPr txBox="1"/>
              <p:nvPr/>
            </p:nvSpPr>
            <p:spPr>
              <a:xfrm>
                <a:off x="731520" y="2651760"/>
                <a:ext cx="2804160" cy="213360"/>
              </a:xfrm>
              <a:prstGeom prst="rect">
                <a:avLst/>
              </a:prstGeom>
              <a:noFill/>
            </p:spPr>
            <p:txBody>
              <a:bodyPr wrap="none" lIns="0" rIns="0" tIns="0" bIns="0" anchor="t">
                <a:spAutoFit/>
              </a:bodyPr>
              <a:lstStyle/>
              <a:p>
                <a:pPr algn="ctr">
                  <a:lnSpc>
                    <a:spcPts val="1305"/>
                  </a:lnSpc>
                  <a:spcBef>
                    <a:spcPts val="0"/>
                  </a:spcBef>
                  <a:spcAft>
                    <a:spcPts val="0"/>
                  </a:spcAft>
                </a:pPr>
                <a:r>
                  <a:rPr sz="1019" b="0">
                    <a:solidFill>
                      <a:srgbClr val="617689"/>
                    </a:solidFill>
                    <a:latin typeface="Yu Gothic"/>
                    <a:ea typeface="Yu Gothic"/>
                  </a:rPr>
                  <a:t>●：磁性微粒子　→：磁化の向き</a:t>
                </a:r>
              </a:p>
            </p:txBody>
          </p:sp>
          <p:sp>
            <p:nvSpPr>
              <p:cNvPr id="22" name="Rounded Rectangle 21"/>
              <p:cNvSpPr/>
              <p:nvPr/>
            </p:nvSpPr>
            <p:spPr>
              <a:xfrm>
                <a:off x="769620" y="2849880"/>
                <a:ext cx="975360" cy="762000"/>
              </a:xfrm>
              <a:prstGeom prst="roundRect">
                <a:avLst>
                  <a:gd name="adj" fmla="val 12000"/>
                </a:avLst>
              </a:prstGeom>
              <a:solidFill>
                <a:srgbClr val="D8EBEA"/>
              </a:solidFill>
              <a:ln w="152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7740" y="3032760"/>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975360" y="3078480"/>
                <a:ext cx="198120" cy="0"/>
              </a:xfrm>
              <a:custGeom>
                <a:avLst/>
                <a:gdLst/>
                <a:ahLst/>
                <a:cxnLst/>
                <a:rect l="l" t="t" r="r" b="b"/>
                <a:pathLst>
                  <a:path w="26" h="0">
                    <a:moveTo>
                      <a:pt x="0" y="0"/>
                    </a:moveTo>
                    <a:lnTo>
                      <a:pt x="26"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1112520" y="3048000"/>
                <a:ext cx="60960" cy="60960"/>
              </a:xfrm>
              <a:custGeom>
                <a:avLst/>
                <a:gdLst/>
                <a:ahLst/>
                <a:cxnLst/>
                <a:rect l="l" t="t" r="r" b="b"/>
                <a:pathLst>
                  <a:path w="8" h="8">
                    <a:moveTo>
                      <a:pt x="8" y="4"/>
                    </a:moveTo>
                    <a:lnTo>
                      <a:pt x="0"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96898" y="3086100"/>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1402080" y="3131820"/>
                <a:ext cx="198120" cy="0"/>
              </a:xfrm>
              <a:custGeom>
                <a:avLst/>
                <a:gdLst/>
                <a:ahLst/>
                <a:cxnLst/>
                <a:rect l="l" t="t" r="r" b="b"/>
                <a:pathLst>
                  <a:path w="26" h="0">
                    <a:moveTo>
                      <a:pt x="0" y="0"/>
                    </a:moveTo>
                    <a:lnTo>
                      <a:pt x="26"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1539240" y="3101340"/>
                <a:ext cx="60960" cy="60960"/>
              </a:xfrm>
              <a:custGeom>
                <a:avLst/>
                <a:gdLst/>
                <a:ahLst/>
                <a:cxnLst/>
                <a:rect l="l" t="t" r="r" b="b"/>
                <a:pathLst>
                  <a:path w="8" h="8">
                    <a:moveTo>
                      <a:pt x="8" y="4"/>
                    </a:moveTo>
                    <a:lnTo>
                      <a:pt x="0"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43305" y="3360420"/>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1150620" y="3406140"/>
                <a:ext cx="198120" cy="0"/>
              </a:xfrm>
              <a:custGeom>
                <a:avLst/>
                <a:gdLst/>
                <a:ahLst/>
                <a:cxnLst/>
                <a:rect l="l" t="t" r="r" b="b"/>
                <a:pathLst>
                  <a:path w="26" h="0">
                    <a:moveTo>
                      <a:pt x="0" y="0"/>
                    </a:moveTo>
                    <a:lnTo>
                      <a:pt x="26"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1287780" y="3375660"/>
                <a:ext cx="60960" cy="60960"/>
              </a:xfrm>
              <a:custGeom>
                <a:avLst/>
                <a:gdLst/>
                <a:ahLst/>
                <a:cxnLst/>
                <a:rect l="l" t="t" r="r" b="b"/>
                <a:pathLst>
                  <a:path w="8" h="8">
                    <a:moveTo>
                      <a:pt x="8" y="4"/>
                    </a:moveTo>
                    <a:lnTo>
                      <a:pt x="0"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1866900" y="3230880"/>
                <a:ext cx="228600" cy="0"/>
              </a:xfrm>
              <a:custGeom>
                <a:avLst/>
                <a:gdLst/>
                <a:ahLst/>
                <a:cxnLst/>
                <a:rect l="l" t="t" r="r" b="b"/>
                <a:pathLst>
                  <a:path w="30" h="0">
                    <a:moveTo>
                      <a:pt x="0" y="0"/>
                    </a:moveTo>
                    <a:lnTo>
                      <a:pt x="30" y="0"/>
                    </a:lnTo>
                  </a:path>
                </a:pathLst>
              </a:custGeom>
              <a:noFill/>
              <a:ln w="22859">
                <a:solidFill>
                  <a:srgbClr val="2377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2019300" y="3192780"/>
                <a:ext cx="76200" cy="76200"/>
              </a:xfrm>
              <a:custGeom>
                <a:avLst/>
                <a:gdLst/>
                <a:ahLst/>
                <a:cxnLst/>
                <a:rect l="l" t="t" r="r" b="b"/>
                <a:pathLst>
                  <a:path w="10" h="10">
                    <a:moveTo>
                      <a:pt x="10" y="5"/>
                    </a:moveTo>
                    <a:lnTo>
                      <a:pt x="0" y="0"/>
                    </a:lnTo>
                    <a:lnTo>
                      <a:pt x="0" y="10"/>
                    </a:lnTo>
                    <a:close/>
                  </a:path>
                </a:pathLst>
              </a:cu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232660" y="2994660"/>
                <a:ext cx="1097280" cy="487680"/>
              </a:xfrm>
              <a:prstGeom prst="roundRect">
                <a:avLst>
                  <a:gd name="adj" fmla="val 12000"/>
                </a:avLst>
              </a:prstGeom>
              <a:solidFill>
                <a:srgbClr val="D8EBEA"/>
              </a:solidFill>
              <a:ln w="152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461260" y="3095244"/>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2468880" y="3078480"/>
                <a:ext cx="182880" cy="76200"/>
              </a:xfrm>
              <a:custGeom>
                <a:avLst/>
                <a:gdLst/>
                <a:ahLst/>
                <a:cxnLst/>
                <a:rect l="l" t="t" r="r" b="b"/>
                <a:pathLst>
                  <a:path w="24" h="10">
                    <a:moveTo>
                      <a:pt x="0" y="10"/>
                    </a:moveTo>
                    <a:lnTo>
                      <a:pt x="24"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2583180" y="3070860"/>
                <a:ext cx="68580" cy="60960"/>
              </a:xfrm>
              <a:custGeom>
                <a:avLst/>
                <a:gdLst/>
                <a:ahLst/>
                <a:cxnLst/>
                <a:rect l="l" t="t" r="r" b="b"/>
                <a:pathLst>
                  <a:path w="9" h="8">
                    <a:moveTo>
                      <a:pt x="9" y="1"/>
                    </a:moveTo>
                    <a:lnTo>
                      <a:pt x="0" y="0"/>
                    </a:lnTo>
                    <a:lnTo>
                      <a:pt x="4"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944063" y="3129382"/>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956560" y="3162300"/>
                <a:ext cx="182880" cy="60960"/>
              </a:xfrm>
              <a:custGeom>
                <a:avLst/>
                <a:gdLst/>
                <a:ahLst/>
                <a:cxnLst/>
                <a:rect l="l" t="t" r="r" b="b"/>
                <a:pathLst>
                  <a:path w="24" h="8">
                    <a:moveTo>
                      <a:pt x="0" y="0"/>
                    </a:moveTo>
                    <a:lnTo>
                      <a:pt x="24" y="8"/>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3070860" y="3177540"/>
                <a:ext cx="68580" cy="60960"/>
              </a:xfrm>
              <a:custGeom>
                <a:avLst/>
                <a:gdLst/>
                <a:ahLst/>
                <a:cxnLst/>
                <a:rect l="l" t="t" r="r" b="b"/>
                <a:pathLst>
                  <a:path w="9" h="8">
                    <a:moveTo>
                      <a:pt x="9" y="6"/>
                    </a:moveTo>
                    <a:lnTo>
                      <a:pt x="3"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658770" y="3304946"/>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667000" y="3314700"/>
                <a:ext cx="190500" cy="45720"/>
              </a:xfrm>
              <a:custGeom>
                <a:avLst/>
                <a:gdLst/>
                <a:ahLst/>
                <a:cxnLst/>
                <a:rect l="l" t="t" r="r" b="b"/>
                <a:pathLst>
                  <a:path w="25" h="6">
                    <a:moveTo>
                      <a:pt x="0" y="6"/>
                    </a:moveTo>
                    <a:lnTo>
                      <a:pt x="25"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796540" y="3299460"/>
                <a:ext cx="60960" cy="60960"/>
              </a:xfrm>
              <a:custGeom>
                <a:avLst/>
                <a:gdLst/>
                <a:ahLst/>
                <a:cxnLst/>
                <a:rect l="l" t="t" r="r" b="b"/>
                <a:pathLst>
                  <a:path w="8" h="8">
                    <a:moveTo>
                      <a:pt x="8" y="2"/>
                    </a:moveTo>
                    <a:lnTo>
                      <a:pt x="0" y="0"/>
                    </a:lnTo>
                    <a:lnTo>
                      <a:pt x="2"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506980" y="2804160"/>
                <a:ext cx="0" cy="137160"/>
              </a:xfrm>
              <a:custGeom>
                <a:avLst/>
                <a:gdLst/>
                <a:ahLst/>
                <a:cxnLst/>
                <a:rect l="l" t="t" r="r" b="b"/>
                <a:pathLst>
                  <a:path w="0" h="18">
                    <a:moveTo>
                      <a:pt x="0" y="0"/>
                    </a:moveTo>
                    <a:lnTo>
                      <a:pt x="0" y="18"/>
                    </a:lnTo>
                  </a:path>
                </a:pathLst>
              </a:custGeom>
              <a:noFill/>
              <a:ln w="22859">
                <a:solidFill>
                  <a:srgbClr val="2377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2476500" y="2880360"/>
                <a:ext cx="60960" cy="60960"/>
              </a:xfrm>
              <a:custGeom>
                <a:avLst/>
                <a:gdLst/>
                <a:ahLst/>
                <a:cxnLst/>
                <a:rect l="l" t="t" r="r" b="b"/>
                <a:pathLst>
                  <a:path w="8" h="8">
                    <a:moveTo>
                      <a:pt x="4" y="8"/>
                    </a:moveTo>
                    <a:lnTo>
                      <a:pt x="8" y="0"/>
                    </a:lnTo>
                    <a:lnTo>
                      <a:pt x="0" y="0"/>
                    </a:lnTo>
                    <a:close/>
                  </a:path>
                </a:pathLst>
              </a:cu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3078480" y="2804160"/>
                <a:ext cx="0" cy="137160"/>
              </a:xfrm>
              <a:custGeom>
                <a:avLst/>
                <a:gdLst/>
                <a:ahLst/>
                <a:cxnLst/>
                <a:rect l="l" t="t" r="r" b="b"/>
                <a:pathLst>
                  <a:path w="0" h="18">
                    <a:moveTo>
                      <a:pt x="0" y="0"/>
                    </a:moveTo>
                    <a:lnTo>
                      <a:pt x="0" y="18"/>
                    </a:lnTo>
                  </a:path>
                </a:pathLst>
              </a:custGeom>
              <a:noFill/>
              <a:ln w="22859">
                <a:solidFill>
                  <a:srgbClr val="2377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3048000" y="2880360"/>
                <a:ext cx="60960" cy="60960"/>
              </a:xfrm>
              <a:custGeom>
                <a:avLst/>
                <a:gdLst/>
                <a:ahLst/>
                <a:cxnLst/>
                <a:rect l="l" t="t" r="r" b="b"/>
                <a:pathLst>
                  <a:path w="8" h="8">
                    <a:moveTo>
                      <a:pt x="4" y="8"/>
                    </a:moveTo>
                    <a:lnTo>
                      <a:pt x="8" y="0"/>
                    </a:lnTo>
                    <a:lnTo>
                      <a:pt x="0" y="0"/>
                    </a:lnTo>
                    <a:close/>
                  </a:path>
                </a:pathLst>
              </a:custGeom>
              <a:solidFill>
                <a:srgbClr val="2377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3420" y="3749040"/>
                <a:ext cx="2880360" cy="365760"/>
              </a:xfrm>
              <a:prstGeom prst="rect">
                <a:avLst/>
              </a:prstGeom>
              <a:noFill/>
            </p:spPr>
            <p:txBody>
              <a:bodyPr wrap="none" lIns="0" rIns="0" tIns="0" bIns="0" anchor="t">
                <a:spAutoFit/>
              </a:bodyPr>
              <a:lstStyle/>
              <a:p>
                <a:pPr algn="ctr">
                  <a:lnSpc>
                    <a:spcPts val="1996"/>
                  </a:lnSpc>
                  <a:spcBef>
                    <a:spcPts val="0"/>
                  </a:spcBef>
                  <a:spcAft>
                    <a:spcPts val="0"/>
                  </a:spcAft>
                </a:pPr>
                <a:r>
                  <a:rPr sz="1560" b="1">
                    <a:solidFill>
                      <a:srgbClr val="2377C5"/>
                    </a:solidFill>
                    <a:latin typeface="Yu Gothic"/>
                    <a:ea typeface="Yu Gothic"/>
                  </a:rPr>
                  <a:t>1%圧縮あたり 0.536°［1］</a:t>
                </a:r>
              </a:p>
            </p:txBody>
          </p:sp>
          <p:sp>
            <p:nvSpPr>
              <p:cNvPr id="49" name="TextBox 48"/>
              <p:cNvSpPr txBox="1"/>
              <p:nvPr/>
            </p:nvSpPr>
            <p:spPr>
              <a:xfrm>
                <a:off x="685800" y="4107180"/>
                <a:ext cx="2895600" cy="251460"/>
              </a:xfrm>
              <a:prstGeom prst="rect">
                <a:avLst/>
              </a:prstGeom>
              <a:noFill/>
            </p:spPr>
            <p:txBody>
              <a:bodyPr wrap="none" lIns="0" rIns="0" tIns="0" bIns="0" anchor="t">
                <a:spAutoFit/>
              </a:bodyPr>
              <a:lstStyle/>
              <a:p>
                <a:pPr algn="ctr">
                  <a:lnSpc>
                    <a:spcPts val="1689"/>
                  </a:lnSpc>
                  <a:spcBef>
                    <a:spcPts val="0"/>
                  </a:spcBef>
                  <a:spcAft>
                    <a:spcPts val="0"/>
                  </a:spcAft>
                </a:pPr>
                <a:r>
                  <a:rPr sz="1320" b="0">
                    <a:solidFill>
                      <a:srgbClr val="617689"/>
                    </a:solidFill>
                    <a:latin typeface="Yu Gothic"/>
                    <a:ea typeface="Yu Gothic"/>
                  </a:rPr>
                  <a:t>PMEでも粒子回転の関与を想定</a:t>
                </a:r>
              </a:p>
            </p:txBody>
          </p:sp>
        </p:grpSp>
        <p:grpSp>
          <p:nvGrpSpPr>
            <p:cNvPr id="50" name="薄板化の仮説：同じ曲率での比較"/>
            <p:cNvGrpSpPr/>
            <p:nvPr/>
          </p:nvGrpSpPr>
          <p:grpSpPr>
            <a:xfrm>
              <a:off x="4053840" y="2407920"/>
              <a:ext cx="3642360" cy="2034540"/>
              <a:chOff x="4053840" y="2407920"/>
              <a:chExt cx="3642360" cy="2034540"/>
            </a:xfrm>
          </p:grpSpPr>
          <p:sp>
            <p:nvSpPr>
              <p:cNvPr id="51" name="TextBox 50"/>
              <p:cNvSpPr txBox="1"/>
              <p:nvPr/>
            </p:nvSpPr>
            <p:spPr>
              <a:xfrm>
                <a:off x="4191000" y="2407920"/>
                <a:ext cx="3505200" cy="281940"/>
              </a:xfrm>
              <a:prstGeom prst="rect">
                <a:avLst/>
              </a:prstGeom>
              <a:noFill/>
            </p:spPr>
            <p:txBody>
              <a:bodyPr wrap="none" lIns="0" rIns="0" tIns="0" bIns="0" anchor="t">
                <a:spAutoFit/>
              </a:bodyPr>
              <a:lstStyle/>
              <a:p>
                <a:pPr algn="ctr">
                  <a:lnSpc>
                    <a:spcPts val="1766"/>
                  </a:lnSpc>
                  <a:spcBef>
                    <a:spcPts val="0"/>
                  </a:spcBef>
                  <a:spcAft>
                    <a:spcPts val="0"/>
                  </a:spcAft>
                </a:pPr>
                <a:r>
                  <a:rPr sz="1380" b="0">
                    <a:solidFill>
                      <a:srgbClr val="617689"/>
                    </a:solidFill>
                    <a:latin typeface="Yu Gothic"/>
                    <a:ea typeface="Yu Gothic"/>
                  </a:rPr>
                  <a:t>同じ曲がり具合（曲率）で比較</a:t>
                </a:r>
              </a:p>
            </p:txBody>
          </p:sp>
          <p:grpSp>
            <p:nvGrpSpPr>
              <p:cNvPr id="52" name="厚い試料の模式図"/>
              <p:cNvGrpSpPr/>
              <p:nvPr/>
            </p:nvGrpSpPr>
            <p:grpSpPr>
              <a:xfrm>
                <a:off x="4053840" y="2781300"/>
                <a:ext cx="1691640" cy="1181100"/>
                <a:chOff x="4053840" y="2781300"/>
                <a:chExt cx="1691640" cy="1181100"/>
              </a:xfrm>
            </p:grpSpPr>
            <p:sp>
              <p:nvSpPr>
                <p:cNvPr id="53" name="曲げた試料の輪郭（同じ中心線曲率）"/>
                <p:cNvSpPr/>
                <p:nvPr/>
              </p:nvSpPr>
              <p:spPr>
                <a:xfrm>
                  <a:off x="4053840" y="2781300"/>
                  <a:ext cx="1691640" cy="678180"/>
                </a:xfrm>
                <a:custGeom>
                  <a:avLst/>
                  <a:gdLst/>
                  <a:ahLst/>
                  <a:cxnLst/>
                  <a:rect l="l" t="t" r="r" b="b"/>
                  <a:pathLst>
                    <a:path w="222" h="89">
                      <a:moveTo>
                        <a:pt x="36" y="89"/>
                      </a:moveTo>
                      <a:lnTo>
                        <a:pt x="40" y="86"/>
                      </a:lnTo>
                      <a:lnTo>
                        <a:pt x="45" y="84"/>
                      </a:lnTo>
                      <a:lnTo>
                        <a:pt x="49" y="81"/>
                      </a:lnTo>
                      <a:lnTo>
                        <a:pt x="53" y="79"/>
                      </a:lnTo>
                      <a:lnTo>
                        <a:pt x="58" y="77"/>
                      </a:lnTo>
                      <a:lnTo>
                        <a:pt x="63" y="75"/>
                      </a:lnTo>
                      <a:lnTo>
                        <a:pt x="67" y="73"/>
                      </a:lnTo>
                      <a:lnTo>
                        <a:pt x="72" y="72"/>
                      </a:lnTo>
                      <a:lnTo>
                        <a:pt x="77" y="71"/>
                      </a:lnTo>
                      <a:lnTo>
                        <a:pt x="81" y="69"/>
                      </a:lnTo>
                      <a:lnTo>
                        <a:pt x="86" y="68"/>
                      </a:lnTo>
                      <a:lnTo>
                        <a:pt x="91" y="67"/>
                      </a:lnTo>
                      <a:lnTo>
                        <a:pt x="96" y="67"/>
                      </a:lnTo>
                      <a:lnTo>
                        <a:pt x="101" y="66"/>
                      </a:lnTo>
                      <a:lnTo>
                        <a:pt x="106" y="66"/>
                      </a:lnTo>
                      <a:lnTo>
                        <a:pt x="111" y="66"/>
                      </a:lnTo>
                      <a:lnTo>
                        <a:pt x="116" y="66"/>
                      </a:lnTo>
                      <a:lnTo>
                        <a:pt x="121" y="66"/>
                      </a:lnTo>
                      <a:lnTo>
                        <a:pt x="126" y="67"/>
                      </a:lnTo>
                      <a:lnTo>
                        <a:pt x="131" y="67"/>
                      </a:lnTo>
                      <a:lnTo>
                        <a:pt x="136" y="68"/>
                      </a:lnTo>
                      <a:lnTo>
                        <a:pt x="141" y="69"/>
                      </a:lnTo>
                      <a:lnTo>
                        <a:pt x="145" y="71"/>
                      </a:lnTo>
                      <a:lnTo>
                        <a:pt x="150" y="72"/>
                      </a:lnTo>
                      <a:lnTo>
                        <a:pt x="155" y="73"/>
                      </a:lnTo>
                      <a:lnTo>
                        <a:pt x="159" y="75"/>
                      </a:lnTo>
                      <a:lnTo>
                        <a:pt x="164" y="77"/>
                      </a:lnTo>
                      <a:lnTo>
                        <a:pt x="169" y="79"/>
                      </a:lnTo>
                      <a:lnTo>
                        <a:pt x="173" y="81"/>
                      </a:lnTo>
                      <a:lnTo>
                        <a:pt x="177" y="84"/>
                      </a:lnTo>
                      <a:lnTo>
                        <a:pt x="182" y="86"/>
                      </a:lnTo>
                      <a:lnTo>
                        <a:pt x="186" y="89"/>
                      </a:lnTo>
                      <a:lnTo>
                        <a:pt x="222" y="34"/>
                      </a:lnTo>
                      <a:lnTo>
                        <a:pt x="217" y="31"/>
                      </a:lnTo>
                      <a:lnTo>
                        <a:pt x="210" y="27"/>
                      </a:lnTo>
                      <a:lnTo>
                        <a:pt x="204" y="23"/>
                      </a:lnTo>
                      <a:lnTo>
                        <a:pt x="197" y="20"/>
                      </a:lnTo>
                      <a:lnTo>
                        <a:pt x="190" y="17"/>
                      </a:lnTo>
                      <a:lnTo>
                        <a:pt x="184" y="14"/>
                      </a:lnTo>
                      <a:lnTo>
                        <a:pt x="177" y="11"/>
                      </a:lnTo>
                      <a:lnTo>
                        <a:pt x="170" y="9"/>
                      </a:lnTo>
                      <a:lnTo>
                        <a:pt x="162" y="7"/>
                      </a:lnTo>
                      <a:lnTo>
                        <a:pt x="155" y="5"/>
                      </a:lnTo>
                      <a:lnTo>
                        <a:pt x="148" y="3"/>
                      </a:lnTo>
                      <a:lnTo>
                        <a:pt x="141" y="2"/>
                      </a:lnTo>
                      <a:lnTo>
                        <a:pt x="133" y="1"/>
                      </a:lnTo>
                      <a:lnTo>
                        <a:pt x="126" y="1"/>
                      </a:lnTo>
                      <a:lnTo>
                        <a:pt x="118" y="0"/>
                      </a:lnTo>
                      <a:lnTo>
                        <a:pt x="111" y="0"/>
                      </a:lnTo>
                      <a:lnTo>
                        <a:pt x="104" y="0"/>
                      </a:lnTo>
                      <a:lnTo>
                        <a:pt x="96" y="1"/>
                      </a:lnTo>
                      <a:lnTo>
                        <a:pt x="89" y="1"/>
                      </a:lnTo>
                      <a:lnTo>
                        <a:pt x="81" y="2"/>
                      </a:lnTo>
                      <a:lnTo>
                        <a:pt x="74" y="3"/>
                      </a:lnTo>
                      <a:lnTo>
                        <a:pt x="67" y="5"/>
                      </a:lnTo>
                      <a:lnTo>
                        <a:pt x="60" y="7"/>
                      </a:lnTo>
                      <a:lnTo>
                        <a:pt x="52" y="9"/>
                      </a:lnTo>
                      <a:lnTo>
                        <a:pt x="45" y="11"/>
                      </a:lnTo>
                      <a:lnTo>
                        <a:pt x="38" y="14"/>
                      </a:lnTo>
                      <a:lnTo>
                        <a:pt x="32" y="17"/>
                      </a:lnTo>
                      <a:lnTo>
                        <a:pt x="25" y="20"/>
                      </a:lnTo>
                      <a:lnTo>
                        <a:pt x="18" y="23"/>
                      </a:lnTo>
                      <a:lnTo>
                        <a:pt x="12" y="27"/>
                      </a:lnTo>
                      <a:lnTo>
                        <a:pt x="5" y="31"/>
                      </a:lnTo>
                      <a:lnTo>
                        <a:pt x="0" y="34"/>
                      </a:lnTo>
                      <a:close/>
                    </a:path>
                  </a:pathLst>
                </a:custGeom>
                <a:solidFill>
                  <a:srgbClr val="D8EBEA"/>
                </a:solidFill>
                <a:ln w="152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4191000" y="3200400"/>
                  <a:ext cx="76200" cy="53340"/>
                </a:xfrm>
                <a:custGeom>
                  <a:avLst/>
                  <a:gdLst/>
                  <a:ahLst/>
                  <a:cxnLst/>
                  <a:rect l="l" t="t" r="r" b="b"/>
                  <a:pathLst>
                    <a:path w="10" h="7">
                      <a:moveTo>
                        <a:pt x="0" y="7"/>
                      </a:moveTo>
                      <a:lnTo>
                        <a:pt x="5" y="3"/>
                      </a:lnTo>
                      <a:lnTo>
                        <a:pt x="10"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4351020" y="3116580"/>
                  <a:ext cx="83820" cy="38100"/>
                </a:xfrm>
                <a:custGeom>
                  <a:avLst/>
                  <a:gdLst/>
                  <a:ahLst/>
                  <a:cxnLst/>
                  <a:rect l="l" t="t" r="r" b="b"/>
                  <a:pathLst>
                    <a:path w="11" h="5">
                      <a:moveTo>
                        <a:pt x="0" y="5"/>
                      </a:moveTo>
                      <a:lnTo>
                        <a:pt x="6" y="3"/>
                      </a:lnTo>
                      <a:lnTo>
                        <a:pt x="11"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4526280" y="3063240"/>
                  <a:ext cx="91440" cy="22860"/>
                </a:xfrm>
                <a:custGeom>
                  <a:avLst/>
                  <a:gdLst/>
                  <a:ahLst/>
                  <a:cxnLst/>
                  <a:rect l="l" t="t" r="r" b="b"/>
                  <a:pathLst>
                    <a:path w="12" h="3">
                      <a:moveTo>
                        <a:pt x="0" y="3"/>
                      </a:moveTo>
                      <a:lnTo>
                        <a:pt x="6" y="2"/>
                      </a:lnTo>
                      <a:lnTo>
                        <a:pt x="12"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4709160" y="3032760"/>
                  <a:ext cx="99060" cy="15240"/>
                </a:xfrm>
                <a:custGeom>
                  <a:avLst/>
                  <a:gdLst/>
                  <a:ahLst/>
                  <a:cxnLst/>
                  <a:rect l="l" t="t" r="r" b="b"/>
                  <a:pathLst>
                    <a:path w="13" h="2">
                      <a:moveTo>
                        <a:pt x="0" y="2"/>
                      </a:moveTo>
                      <a:lnTo>
                        <a:pt x="6" y="1"/>
                      </a:lnTo>
                      <a:lnTo>
                        <a:pt x="13"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4899660" y="3032760"/>
                  <a:ext cx="91440" cy="0"/>
                </a:xfrm>
                <a:custGeom>
                  <a:avLst/>
                  <a:gdLst/>
                  <a:ahLst/>
                  <a:cxnLst/>
                  <a:rect l="l" t="t" r="r" b="b"/>
                  <a:pathLst>
                    <a:path w="12" h="0">
                      <a:moveTo>
                        <a:pt x="0" y="0"/>
                      </a:moveTo>
                      <a:lnTo>
                        <a:pt x="6" y="0"/>
                      </a:lnTo>
                      <a:lnTo>
                        <a:pt x="12"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5090160" y="3048000"/>
                  <a:ext cx="91440" cy="15240"/>
                </a:xfrm>
                <a:custGeom>
                  <a:avLst/>
                  <a:gdLst/>
                  <a:ahLst/>
                  <a:cxnLst/>
                  <a:rect l="l" t="t" r="r" b="b"/>
                  <a:pathLst>
                    <a:path w="12" h="2">
                      <a:moveTo>
                        <a:pt x="0" y="0"/>
                      </a:moveTo>
                      <a:lnTo>
                        <a:pt x="6" y="1"/>
                      </a:lnTo>
                      <a:lnTo>
                        <a:pt x="12" y="2"/>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5273040" y="3086100"/>
                  <a:ext cx="91440" cy="30480"/>
                </a:xfrm>
                <a:custGeom>
                  <a:avLst/>
                  <a:gdLst/>
                  <a:ahLst/>
                  <a:cxnLst/>
                  <a:rect l="l" t="t" r="r" b="b"/>
                  <a:pathLst>
                    <a:path w="12" h="4">
                      <a:moveTo>
                        <a:pt x="0" y="0"/>
                      </a:moveTo>
                      <a:lnTo>
                        <a:pt x="6" y="2"/>
                      </a:lnTo>
                      <a:lnTo>
                        <a:pt x="12" y="4"/>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5448300" y="3154680"/>
                  <a:ext cx="83820" cy="45720"/>
                </a:xfrm>
                <a:custGeom>
                  <a:avLst/>
                  <a:gdLst/>
                  <a:ahLst/>
                  <a:cxnLst/>
                  <a:rect l="l" t="t" r="r" b="b"/>
                  <a:pathLst>
                    <a:path w="11" h="6">
                      <a:moveTo>
                        <a:pt x="0" y="0"/>
                      </a:moveTo>
                      <a:lnTo>
                        <a:pt x="5" y="3"/>
                      </a:lnTo>
                      <a:lnTo>
                        <a:pt x="11" y="6"/>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436854" y="3058099"/>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4450080" y="3040380"/>
                  <a:ext cx="175260" cy="76200"/>
                </a:xfrm>
                <a:custGeom>
                  <a:avLst/>
                  <a:gdLst/>
                  <a:ahLst/>
                  <a:cxnLst/>
                  <a:rect l="l" t="t" r="r" b="b"/>
                  <a:pathLst>
                    <a:path w="23" h="10">
                      <a:moveTo>
                        <a:pt x="0" y="10"/>
                      </a:moveTo>
                      <a:lnTo>
                        <a:pt x="23"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4556760" y="3032760"/>
                  <a:ext cx="68580" cy="60960"/>
                </a:xfrm>
                <a:custGeom>
                  <a:avLst/>
                  <a:gdLst/>
                  <a:ahLst/>
                  <a:cxnLst/>
                  <a:rect l="l" t="t" r="r" b="b"/>
                  <a:pathLst>
                    <a:path w="9" h="8">
                      <a:moveTo>
                        <a:pt x="9" y="1"/>
                      </a:moveTo>
                      <a:lnTo>
                        <a:pt x="0" y="0"/>
                      </a:lnTo>
                      <a:lnTo>
                        <a:pt x="4"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853940" y="2987040"/>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4861560" y="3025140"/>
                  <a:ext cx="198120" cy="30480"/>
                </a:xfrm>
                <a:custGeom>
                  <a:avLst/>
                  <a:gdLst/>
                  <a:ahLst/>
                  <a:cxnLst/>
                  <a:rect l="l" t="t" r="r" b="b"/>
                  <a:pathLst>
                    <a:path w="26" h="4">
                      <a:moveTo>
                        <a:pt x="0" y="0"/>
                      </a:moveTo>
                      <a:lnTo>
                        <a:pt x="26" y="4"/>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4991100" y="3017520"/>
                  <a:ext cx="68580" cy="60960"/>
                </a:xfrm>
                <a:custGeom>
                  <a:avLst/>
                  <a:gdLst/>
                  <a:ahLst/>
                  <a:cxnLst/>
                  <a:rect l="l" t="t" r="r" b="b"/>
                  <a:pathLst>
                    <a:path w="9" h="8">
                      <a:moveTo>
                        <a:pt x="9" y="5"/>
                      </a:moveTo>
                      <a:lnTo>
                        <a:pt x="1"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271026" y="3058099"/>
                  <a:ext cx="91440" cy="9144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5288280" y="3086100"/>
                  <a:ext cx="160020" cy="106680"/>
                </a:xfrm>
                <a:custGeom>
                  <a:avLst/>
                  <a:gdLst/>
                  <a:ahLst/>
                  <a:cxnLst/>
                  <a:rect l="l" t="t" r="r" b="b"/>
                  <a:pathLst>
                    <a:path w="21" h="14">
                      <a:moveTo>
                        <a:pt x="0" y="0"/>
                      </a:moveTo>
                      <a:lnTo>
                        <a:pt x="21" y="14"/>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5379720" y="3131820"/>
                  <a:ext cx="68580" cy="60960"/>
                </a:xfrm>
                <a:custGeom>
                  <a:avLst/>
                  <a:gdLst/>
                  <a:ahLst/>
                  <a:cxnLst/>
                  <a:rect l="l" t="t" r="r" b="b"/>
                  <a:pathLst>
                    <a:path w="9" h="8">
                      <a:moveTo>
                        <a:pt x="9" y="8"/>
                      </a:moveTo>
                      <a:lnTo>
                        <a:pt x="5" y="0"/>
                      </a:lnTo>
                      <a:lnTo>
                        <a:pt x="0" y="7"/>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274820" y="3672840"/>
                  <a:ext cx="1333500" cy="289560"/>
                </a:xfrm>
                <a:prstGeom prst="rect">
                  <a:avLst/>
                </a:prstGeom>
                <a:noFill/>
              </p:spPr>
              <p:txBody>
                <a:bodyPr wrap="none" lIns="0" rIns="0" tIns="0" bIns="0" anchor="t">
                  <a:spAutoFit/>
                </a:bodyPr>
                <a:lstStyle/>
                <a:p>
                  <a:pPr algn="ctr">
                    <a:lnSpc>
                      <a:spcPts val="1843"/>
                    </a:lnSpc>
                    <a:spcBef>
                      <a:spcPts val="0"/>
                    </a:spcBef>
                    <a:spcAft>
                      <a:spcPts val="0"/>
                    </a:spcAft>
                  </a:pPr>
                  <a:r>
                    <a:rPr sz="1439" b="1">
                      <a:solidFill>
                        <a:srgbClr val="121212"/>
                      </a:solidFill>
                      <a:latin typeface="Yu Gothic"/>
                      <a:ea typeface="Yu Gothic"/>
                    </a:rPr>
                    <a:t>厚い試料</a:t>
                  </a:r>
                </a:p>
              </p:txBody>
            </p:sp>
          </p:grpSp>
          <p:grpSp>
            <p:nvGrpSpPr>
              <p:cNvPr id="72" name="薄い試料の模式図"/>
              <p:cNvGrpSpPr/>
              <p:nvPr/>
            </p:nvGrpSpPr>
            <p:grpSpPr>
              <a:xfrm>
                <a:off x="6164580" y="2948940"/>
                <a:ext cx="1508760" cy="1013460"/>
                <a:chOff x="6164580" y="2948940"/>
                <a:chExt cx="1508760" cy="1013460"/>
              </a:xfrm>
            </p:grpSpPr>
            <p:sp>
              <p:nvSpPr>
                <p:cNvPr id="73" name="曲げた試料の輪郭（同じ中心線曲率）"/>
                <p:cNvSpPr/>
                <p:nvPr/>
              </p:nvSpPr>
              <p:spPr>
                <a:xfrm>
                  <a:off x="6164580" y="2948940"/>
                  <a:ext cx="1508760" cy="373380"/>
                </a:xfrm>
                <a:custGeom>
                  <a:avLst/>
                  <a:gdLst/>
                  <a:ahLst/>
                  <a:cxnLst/>
                  <a:rect l="l" t="t" r="r" b="b"/>
                  <a:pathLst>
                    <a:path w="198" h="49">
                      <a:moveTo>
                        <a:pt x="12" y="49"/>
                      </a:moveTo>
                      <a:lnTo>
                        <a:pt x="17" y="46"/>
                      </a:lnTo>
                      <a:lnTo>
                        <a:pt x="22" y="43"/>
                      </a:lnTo>
                      <a:lnTo>
                        <a:pt x="27" y="40"/>
                      </a:lnTo>
                      <a:lnTo>
                        <a:pt x="32" y="37"/>
                      </a:lnTo>
                      <a:lnTo>
                        <a:pt x="37" y="35"/>
                      </a:lnTo>
                      <a:lnTo>
                        <a:pt x="42" y="33"/>
                      </a:lnTo>
                      <a:lnTo>
                        <a:pt x="48" y="31"/>
                      </a:lnTo>
                      <a:lnTo>
                        <a:pt x="53" y="29"/>
                      </a:lnTo>
                      <a:lnTo>
                        <a:pt x="59" y="27"/>
                      </a:lnTo>
                      <a:lnTo>
                        <a:pt x="65" y="26"/>
                      </a:lnTo>
                      <a:lnTo>
                        <a:pt x="70" y="25"/>
                      </a:lnTo>
                      <a:lnTo>
                        <a:pt x="76" y="24"/>
                      </a:lnTo>
                      <a:lnTo>
                        <a:pt x="82" y="23"/>
                      </a:lnTo>
                      <a:lnTo>
                        <a:pt x="87" y="22"/>
                      </a:lnTo>
                      <a:lnTo>
                        <a:pt x="93" y="22"/>
                      </a:lnTo>
                      <a:lnTo>
                        <a:pt x="99" y="22"/>
                      </a:lnTo>
                      <a:lnTo>
                        <a:pt x="105" y="22"/>
                      </a:lnTo>
                      <a:lnTo>
                        <a:pt x="111" y="22"/>
                      </a:lnTo>
                      <a:lnTo>
                        <a:pt x="116" y="23"/>
                      </a:lnTo>
                      <a:lnTo>
                        <a:pt x="122" y="24"/>
                      </a:lnTo>
                      <a:lnTo>
                        <a:pt x="128" y="25"/>
                      </a:lnTo>
                      <a:lnTo>
                        <a:pt x="133" y="26"/>
                      </a:lnTo>
                      <a:lnTo>
                        <a:pt x="139" y="27"/>
                      </a:lnTo>
                      <a:lnTo>
                        <a:pt x="145" y="29"/>
                      </a:lnTo>
                      <a:lnTo>
                        <a:pt x="150" y="31"/>
                      </a:lnTo>
                      <a:lnTo>
                        <a:pt x="156" y="33"/>
                      </a:lnTo>
                      <a:lnTo>
                        <a:pt x="161" y="35"/>
                      </a:lnTo>
                      <a:lnTo>
                        <a:pt x="166" y="37"/>
                      </a:lnTo>
                      <a:lnTo>
                        <a:pt x="171" y="40"/>
                      </a:lnTo>
                      <a:lnTo>
                        <a:pt x="176" y="43"/>
                      </a:lnTo>
                      <a:lnTo>
                        <a:pt x="181" y="46"/>
                      </a:lnTo>
                      <a:lnTo>
                        <a:pt x="186" y="49"/>
                      </a:lnTo>
                      <a:lnTo>
                        <a:pt x="198" y="31"/>
                      </a:lnTo>
                      <a:lnTo>
                        <a:pt x="193" y="27"/>
                      </a:lnTo>
                      <a:lnTo>
                        <a:pt x="187" y="24"/>
                      </a:lnTo>
                      <a:lnTo>
                        <a:pt x="182" y="21"/>
                      </a:lnTo>
                      <a:lnTo>
                        <a:pt x="176" y="18"/>
                      </a:lnTo>
                      <a:lnTo>
                        <a:pt x="170" y="15"/>
                      </a:lnTo>
                      <a:lnTo>
                        <a:pt x="164" y="12"/>
                      </a:lnTo>
                      <a:lnTo>
                        <a:pt x="157" y="10"/>
                      </a:lnTo>
                      <a:lnTo>
                        <a:pt x="151" y="8"/>
                      </a:lnTo>
                      <a:lnTo>
                        <a:pt x="145" y="6"/>
                      </a:lnTo>
                      <a:lnTo>
                        <a:pt x="138" y="4"/>
                      </a:lnTo>
                      <a:lnTo>
                        <a:pt x="132" y="3"/>
                      </a:lnTo>
                      <a:lnTo>
                        <a:pt x="125" y="2"/>
                      </a:lnTo>
                      <a:lnTo>
                        <a:pt x="119" y="1"/>
                      </a:lnTo>
                      <a:lnTo>
                        <a:pt x="112" y="0"/>
                      </a:lnTo>
                      <a:lnTo>
                        <a:pt x="106" y="0"/>
                      </a:lnTo>
                      <a:lnTo>
                        <a:pt x="99" y="0"/>
                      </a:lnTo>
                      <a:lnTo>
                        <a:pt x="92" y="0"/>
                      </a:lnTo>
                      <a:lnTo>
                        <a:pt x="86" y="0"/>
                      </a:lnTo>
                      <a:lnTo>
                        <a:pt x="79" y="1"/>
                      </a:lnTo>
                      <a:lnTo>
                        <a:pt x="73" y="2"/>
                      </a:lnTo>
                      <a:lnTo>
                        <a:pt x="66" y="3"/>
                      </a:lnTo>
                      <a:lnTo>
                        <a:pt x="60" y="4"/>
                      </a:lnTo>
                      <a:lnTo>
                        <a:pt x="53" y="6"/>
                      </a:lnTo>
                      <a:lnTo>
                        <a:pt x="47" y="8"/>
                      </a:lnTo>
                      <a:lnTo>
                        <a:pt x="41" y="10"/>
                      </a:lnTo>
                      <a:lnTo>
                        <a:pt x="34" y="12"/>
                      </a:lnTo>
                      <a:lnTo>
                        <a:pt x="28" y="15"/>
                      </a:lnTo>
                      <a:lnTo>
                        <a:pt x="22" y="18"/>
                      </a:lnTo>
                      <a:lnTo>
                        <a:pt x="16" y="21"/>
                      </a:lnTo>
                      <a:lnTo>
                        <a:pt x="11" y="24"/>
                      </a:lnTo>
                      <a:lnTo>
                        <a:pt x="5" y="27"/>
                      </a:lnTo>
                      <a:lnTo>
                        <a:pt x="0" y="31"/>
                      </a:lnTo>
                      <a:close/>
                    </a:path>
                  </a:pathLst>
                </a:custGeom>
                <a:solidFill>
                  <a:srgbClr val="D8EBEA"/>
                </a:solidFill>
                <a:ln w="15240">
                  <a:solidFill>
                    <a:srgbClr val="007F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6210300" y="3200400"/>
                  <a:ext cx="76200" cy="53340"/>
                </a:xfrm>
                <a:custGeom>
                  <a:avLst/>
                  <a:gdLst/>
                  <a:ahLst/>
                  <a:cxnLst/>
                  <a:rect l="l" t="t" r="r" b="b"/>
                  <a:pathLst>
                    <a:path w="10" h="7">
                      <a:moveTo>
                        <a:pt x="0" y="7"/>
                      </a:moveTo>
                      <a:lnTo>
                        <a:pt x="5" y="3"/>
                      </a:lnTo>
                      <a:lnTo>
                        <a:pt x="10"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6370320" y="3116580"/>
                  <a:ext cx="83820" cy="38100"/>
                </a:xfrm>
                <a:custGeom>
                  <a:avLst/>
                  <a:gdLst/>
                  <a:ahLst/>
                  <a:cxnLst/>
                  <a:rect l="l" t="t" r="r" b="b"/>
                  <a:pathLst>
                    <a:path w="11" h="5">
                      <a:moveTo>
                        <a:pt x="0" y="5"/>
                      </a:moveTo>
                      <a:lnTo>
                        <a:pt x="6" y="3"/>
                      </a:lnTo>
                      <a:lnTo>
                        <a:pt x="11"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6545580" y="3063240"/>
                  <a:ext cx="91440" cy="22860"/>
                </a:xfrm>
                <a:custGeom>
                  <a:avLst/>
                  <a:gdLst/>
                  <a:ahLst/>
                  <a:cxnLst/>
                  <a:rect l="l" t="t" r="r" b="b"/>
                  <a:pathLst>
                    <a:path w="12" h="3">
                      <a:moveTo>
                        <a:pt x="0" y="3"/>
                      </a:moveTo>
                      <a:lnTo>
                        <a:pt x="6" y="2"/>
                      </a:lnTo>
                      <a:lnTo>
                        <a:pt x="12"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6728460" y="3032760"/>
                  <a:ext cx="99060" cy="15240"/>
                </a:xfrm>
                <a:custGeom>
                  <a:avLst/>
                  <a:gdLst/>
                  <a:ahLst/>
                  <a:cxnLst/>
                  <a:rect l="l" t="t" r="r" b="b"/>
                  <a:pathLst>
                    <a:path w="13" h="2">
                      <a:moveTo>
                        <a:pt x="0" y="2"/>
                      </a:moveTo>
                      <a:lnTo>
                        <a:pt x="6" y="1"/>
                      </a:lnTo>
                      <a:lnTo>
                        <a:pt x="13"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6918960" y="3032760"/>
                  <a:ext cx="91440" cy="0"/>
                </a:xfrm>
                <a:custGeom>
                  <a:avLst/>
                  <a:gdLst/>
                  <a:ahLst/>
                  <a:cxnLst/>
                  <a:rect l="l" t="t" r="r" b="b"/>
                  <a:pathLst>
                    <a:path w="12" h="0">
                      <a:moveTo>
                        <a:pt x="0" y="0"/>
                      </a:moveTo>
                      <a:lnTo>
                        <a:pt x="6" y="0"/>
                      </a:lnTo>
                      <a:lnTo>
                        <a:pt x="12" y="0"/>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7109460" y="3048000"/>
                  <a:ext cx="91440" cy="15240"/>
                </a:xfrm>
                <a:custGeom>
                  <a:avLst/>
                  <a:gdLst/>
                  <a:ahLst/>
                  <a:cxnLst/>
                  <a:rect l="l" t="t" r="r" b="b"/>
                  <a:pathLst>
                    <a:path w="12" h="2">
                      <a:moveTo>
                        <a:pt x="0" y="0"/>
                      </a:moveTo>
                      <a:lnTo>
                        <a:pt x="6" y="1"/>
                      </a:lnTo>
                      <a:lnTo>
                        <a:pt x="12" y="2"/>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7292340" y="3086100"/>
                  <a:ext cx="91440" cy="30480"/>
                </a:xfrm>
                <a:custGeom>
                  <a:avLst/>
                  <a:gdLst/>
                  <a:ahLst/>
                  <a:cxnLst/>
                  <a:rect l="l" t="t" r="r" b="b"/>
                  <a:pathLst>
                    <a:path w="12" h="4">
                      <a:moveTo>
                        <a:pt x="0" y="0"/>
                      </a:moveTo>
                      <a:lnTo>
                        <a:pt x="6" y="2"/>
                      </a:lnTo>
                      <a:lnTo>
                        <a:pt x="12" y="4"/>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7467600" y="3154680"/>
                  <a:ext cx="83820" cy="45720"/>
                </a:xfrm>
                <a:custGeom>
                  <a:avLst/>
                  <a:gdLst/>
                  <a:ahLst/>
                  <a:cxnLst/>
                  <a:rect l="l" t="t" r="r" b="b"/>
                  <a:pathLst>
                    <a:path w="11" h="6">
                      <a:moveTo>
                        <a:pt x="0" y="0"/>
                      </a:moveTo>
                      <a:lnTo>
                        <a:pt x="5" y="3"/>
                      </a:lnTo>
                      <a:lnTo>
                        <a:pt x="11" y="6"/>
                      </a:lnTo>
                    </a:path>
                  </a:pathLst>
                </a:custGeom>
                <a:noFill/>
                <a:ln w="1142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463774" y="3065719"/>
                  <a:ext cx="76200" cy="762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6469380" y="3055620"/>
                  <a:ext cx="182880" cy="60960"/>
                </a:xfrm>
                <a:custGeom>
                  <a:avLst/>
                  <a:gdLst/>
                  <a:ahLst/>
                  <a:cxnLst/>
                  <a:rect l="l" t="t" r="r" b="b"/>
                  <a:pathLst>
                    <a:path w="24" h="8">
                      <a:moveTo>
                        <a:pt x="0" y="8"/>
                      </a:moveTo>
                      <a:lnTo>
                        <a:pt x="24"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6583680" y="3040380"/>
                  <a:ext cx="68580" cy="60960"/>
                </a:xfrm>
                <a:custGeom>
                  <a:avLst/>
                  <a:gdLst/>
                  <a:ahLst/>
                  <a:cxnLst/>
                  <a:rect l="l" t="t" r="r" b="b"/>
                  <a:pathLst>
                    <a:path w="9" h="8">
                      <a:moveTo>
                        <a:pt x="9" y="2"/>
                      </a:moveTo>
                      <a:lnTo>
                        <a:pt x="0" y="0"/>
                      </a:lnTo>
                      <a:lnTo>
                        <a:pt x="3"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880860" y="2994660"/>
                  <a:ext cx="76200" cy="762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6880860" y="3032760"/>
                  <a:ext cx="198120" cy="0"/>
                </a:xfrm>
                <a:custGeom>
                  <a:avLst/>
                  <a:gdLst/>
                  <a:ahLst/>
                  <a:cxnLst/>
                  <a:rect l="l" t="t" r="r" b="b"/>
                  <a:pathLst>
                    <a:path w="26" h="0">
                      <a:moveTo>
                        <a:pt x="0" y="0"/>
                      </a:moveTo>
                      <a:lnTo>
                        <a:pt x="26" y="0"/>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7018020" y="3002280"/>
                  <a:ext cx="60960" cy="60960"/>
                </a:xfrm>
                <a:custGeom>
                  <a:avLst/>
                  <a:gdLst/>
                  <a:ahLst/>
                  <a:cxnLst/>
                  <a:rect l="l" t="t" r="r" b="b"/>
                  <a:pathLst>
                    <a:path w="8" h="8">
                      <a:moveTo>
                        <a:pt x="8" y="4"/>
                      </a:moveTo>
                      <a:lnTo>
                        <a:pt x="0"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297946" y="3065719"/>
                  <a:ext cx="76200" cy="76200"/>
                </a:xfrm>
                <a:prstGeom prst="ellipse">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7299960" y="3093720"/>
                  <a:ext cx="190500" cy="60960"/>
                </a:xfrm>
                <a:custGeom>
                  <a:avLst/>
                  <a:gdLst/>
                  <a:ahLst/>
                  <a:cxnLst/>
                  <a:rect l="l" t="t" r="r" b="b"/>
                  <a:pathLst>
                    <a:path w="25" h="8">
                      <a:moveTo>
                        <a:pt x="0" y="0"/>
                      </a:moveTo>
                      <a:lnTo>
                        <a:pt x="25" y="8"/>
                      </a:lnTo>
                    </a:path>
                  </a:pathLst>
                </a:custGeom>
                <a:noFill/>
                <a:ln w="22859">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7421880" y="3101340"/>
                  <a:ext cx="68580" cy="60960"/>
                </a:xfrm>
                <a:custGeom>
                  <a:avLst/>
                  <a:gdLst/>
                  <a:ahLst/>
                  <a:cxnLst/>
                  <a:rect l="l" t="t" r="r" b="b"/>
                  <a:pathLst>
                    <a:path w="9" h="8">
                      <a:moveTo>
                        <a:pt x="9" y="7"/>
                      </a:moveTo>
                      <a:lnTo>
                        <a:pt x="2" y="0"/>
                      </a:lnTo>
                      <a:lnTo>
                        <a:pt x="0" y="8"/>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286500" y="3672840"/>
                  <a:ext cx="1333500" cy="289560"/>
                </a:xfrm>
                <a:prstGeom prst="rect">
                  <a:avLst/>
                </a:prstGeom>
                <a:noFill/>
              </p:spPr>
              <p:txBody>
                <a:bodyPr wrap="none" lIns="0" rIns="0" tIns="0" bIns="0" anchor="t">
                  <a:spAutoFit/>
                </a:bodyPr>
                <a:lstStyle/>
                <a:p>
                  <a:pPr algn="ctr">
                    <a:lnSpc>
                      <a:spcPts val="1843"/>
                    </a:lnSpc>
                    <a:spcBef>
                      <a:spcPts val="0"/>
                    </a:spcBef>
                    <a:spcAft>
                      <a:spcPts val="0"/>
                    </a:spcAft>
                  </a:pPr>
                  <a:r>
                    <a:rPr sz="1439" b="1">
                      <a:solidFill>
                        <a:srgbClr val="121212"/>
                      </a:solidFill>
                      <a:latin typeface="Yu Gothic"/>
                      <a:ea typeface="Yu Gothic"/>
                    </a:rPr>
                    <a:t>薄い試料</a:t>
                  </a:r>
                </a:p>
              </p:txBody>
            </p:sp>
          </p:grpSp>
          <p:sp>
            <p:nvSpPr>
              <p:cNvPr id="92" name="Freeform 91"/>
              <p:cNvSpPr/>
              <p:nvPr/>
            </p:nvSpPr>
            <p:spPr>
              <a:xfrm>
                <a:off x="5745480" y="3314700"/>
                <a:ext cx="335280" cy="0"/>
              </a:xfrm>
              <a:custGeom>
                <a:avLst/>
                <a:gdLst/>
                <a:ahLst/>
                <a:cxnLst/>
                <a:rect l="l" t="t" r="r" b="b"/>
                <a:pathLst>
                  <a:path w="44" h="0">
                    <a:moveTo>
                      <a:pt x="0" y="0"/>
                    </a:moveTo>
                    <a:lnTo>
                      <a:pt x="44" y="0"/>
                    </a:lnTo>
                  </a:path>
                </a:pathLst>
              </a:custGeom>
              <a:noFill/>
              <a:ln w="30480">
                <a:solidFill>
                  <a:srgbClr val="D8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5989320" y="3268980"/>
                <a:ext cx="91440" cy="91440"/>
              </a:xfrm>
              <a:custGeom>
                <a:avLst/>
                <a:gdLst/>
                <a:ahLst/>
                <a:cxnLst/>
                <a:rect l="l" t="t" r="r" b="b"/>
                <a:pathLst>
                  <a:path w="12" h="12">
                    <a:moveTo>
                      <a:pt x="12" y="6"/>
                    </a:moveTo>
                    <a:lnTo>
                      <a:pt x="0" y="0"/>
                    </a:lnTo>
                    <a:lnTo>
                      <a:pt x="0" y="12"/>
                    </a:lnTo>
                    <a:close/>
                  </a:path>
                </a:pathLst>
              </a:cu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4191000" y="3992880"/>
                <a:ext cx="3505200" cy="449580"/>
              </a:xfrm>
              <a:prstGeom prst="rect">
                <a:avLst/>
              </a:prstGeom>
              <a:noFill/>
            </p:spPr>
            <p:txBody>
              <a:bodyPr wrap="none" lIns="0" rIns="0" tIns="0" bIns="0" anchor="t">
                <a:spAutoFit/>
              </a:bodyPr>
              <a:lstStyle/>
              <a:p>
                <a:pPr algn="ctr">
                  <a:lnSpc>
                    <a:spcPts val="1689"/>
                  </a:lnSpc>
                  <a:spcBef>
                    <a:spcPts val="0"/>
                  </a:spcBef>
                  <a:spcAft>
                    <a:spcPts val="0"/>
                  </a:spcAft>
                </a:pPr>
                <a:r>
                  <a:rPr sz="1320" b="1">
                    <a:solidFill>
                      <a:srgbClr val="D86B35"/>
                    </a:solidFill>
                    <a:latin typeface="Yu Gothic"/>
                    <a:ea typeface="Yu Gothic"/>
                  </a:rPr>
                  <a:t>薄くすると、回転による</a:t>
                </a:r>
              </a:p>
              <a:p>
                <a:pPr algn="ctr">
                  <a:lnSpc>
                    <a:spcPts val="1689"/>
                  </a:lnSpc>
                  <a:spcBef>
                    <a:spcPts val="0"/>
                  </a:spcBef>
                  <a:spcAft>
                    <a:spcPts val="0"/>
                  </a:spcAft>
                </a:pPr>
                <a:r>
                  <a:rPr sz="1320" b="1">
                    <a:solidFill>
                      <a:srgbClr val="D86B35"/>
                    </a:solidFill>
                    <a:latin typeface="Yu Gothic"/>
                    <a:ea typeface="Yu Gothic"/>
                  </a:rPr>
                  <a:t>磁場への影響が小さくなると予想</a:t>
                </a:r>
              </a:p>
            </p:txBody>
          </p:sp>
        </p:grpSp>
        <p:grpSp>
          <p:nvGrpSpPr>
            <p:cNvPr id="95" name="回転省略モデルと実測の比較"/>
            <p:cNvGrpSpPr/>
            <p:nvPr/>
          </p:nvGrpSpPr>
          <p:grpSpPr>
            <a:xfrm>
              <a:off x="8267700" y="2400300"/>
              <a:ext cx="3329940" cy="1943100"/>
              <a:chOff x="8267700" y="2400300"/>
              <a:chExt cx="3329940" cy="1943100"/>
            </a:xfrm>
          </p:grpSpPr>
          <p:sp>
            <p:nvSpPr>
              <p:cNvPr id="96" name="TextBox 95"/>
              <p:cNvSpPr txBox="1"/>
              <p:nvPr/>
            </p:nvSpPr>
            <p:spPr>
              <a:xfrm>
                <a:off x="8267700" y="2400300"/>
                <a:ext cx="3276600" cy="281940"/>
              </a:xfrm>
              <a:prstGeom prst="rect">
                <a:avLst/>
              </a:prstGeom>
              <a:noFill/>
            </p:spPr>
            <p:txBody>
              <a:bodyPr wrap="none" lIns="0" rIns="0" tIns="0" bIns="0" anchor="t">
                <a:spAutoFit/>
              </a:bodyPr>
              <a:lstStyle/>
              <a:p>
                <a:pPr algn="ctr">
                  <a:lnSpc>
                    <a:spcPts val="1920"/>
                  </a:lnSpc>
                  <a:spcBef>
                    <a:spcPts val="0"/>
                  </a:spcBef>
                  <a:spcAft>
                    <a:spcPts val="0"/>
                  </a:spcAft>
                </a:pPr>
                <a:r>
                  <a:rPr sz="1500" b="1">
                    <a:solidFill>
                      <a:srgbClr val="142C44"/>
                    </a:solidFill>
                    <a:latin typeface="Yu Gothic"/>
                    <a:ea typeface="Yu Gothic"/>
                  </a:rPr>
                  <a:t>粒子回転を省略したモデル</a:t>
                </a:r>
              </a:p>
            </p:txBody>
          </p:sp>
          <p:sp>
            <p:nvSpPr>
              <p:cNvPr id="97" name="Freeform 96"/>
              <p:cNvSpPr/>
              <p:nvPr/>
            </p:nvSpPr>
            <p:spPr>
              <a:xfrm>
                <a:off x="8686800" y="3810000"/>
                <a:ext cx="1767840" cy="0"/>
              </a:xfrm>
              <a:custGeom>
                <a:avLst/>
                <a:gdLst/>
                <a:ahLst/>
                <a:cxnLst/>
                <a:rect l="l" t="t" r="r" b="b"/>
                <a:pathLst>
                  <a:path w="232" h="0">
                    <a:moveTo>
                      <a:pt x="0" y="0"/>
                    </a:moveTo>
                    <a:lnTo>
                      <a:pt x="232"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10386060" y="3771900"/>
                <a:ext cx="68580" cy="76200"/>
              </a:xfrm>
              <a:custGeom>
                <a:avLst/>
                <a:gdLst/>
                <a:ahLst/>
                <a:cxnLst/>
                <a:rect l="l" t="t" r="r" b="b"/>
                <a:pathLst>
                  <a:path w="9" h="10">
                    <a:moveTo>
                      <a:pt x="9" y="5"/>
                    </a:moveTo>
                    <a:lnTo>
                      <a:pt x="0" y="0"/>
                    </a:lnTo>
                    <a:lnTo>
                      <a:pt x="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Freeform 98"/>
              <p:cNvSpPr/>
              <p:nvPr/>
            </p:nvSpPr>
            <p:spPr>
              <a:xfrm>
                <a:off x="8686800" y="2948940"/>
                <a:ext cx="0" cy="861060"/>
              </a:xfrm>
              <a:custGeom>
                <a:avLst/>
                <a:gdLst/>
                <a:ahLst/>
                <a:cxnLst/>
                <a:rect l="l" t="t" r="r" b="b"/>
                <a:pathLst>
                  <a:path w="0" h="113">
                    <a:moveTo>
                      <a:pt x="0" y="113"/>
                    </a:moveTo>
                    <a:lnTo>
                      <a:pt x="0" y="0"/>
                    </a:lnTo>
                  </a:path>
                </a:pathLst>
              </a:custGeom>
              <a:noFill/>
              <a:ln w="15240">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8648700" y="2948940"/>
                <a:ext cx="76200" cy="68580"/>
              </a:xfrm>
              <a:custGeom>
                <a:avLst/>
                <a:gdLst/>
                <a:ahLst/>
                <a:cxnLst/>
                <a:rect l="l" t="t" r="r" b="b"/>
                <a:pathLst>
                  <a:path w="10" h="9">
                    <a:moveTo>
                      <a:pt x="5" y="0"/>
                    </a:moveTo>
                    <a:lnTo>
                      <a:pt x="0" y="9"/>
                    </a:lnTo>
                    <a:lnTo>
                      <a:pt x="10" y="9"/>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Freeform 100"/>
              <p:cNvSpPr/>
              <p:nvPr/>
            </p:nvSpPr>
            <p:spPr>
              <a:xfrm>
                <a:off x="8839200" y="3048000"/>
                <a:ext cx="1463040" cy="655320"/>
              </a:xfrm>
              <a:custGeom>
                <a:avLst/>
                <a:gdLst/>
                <a:ahLst/>
                <a:cxnLst/>
                <a:rect l="l" t="t" r="r" b="b"/>
                <a:pathLst>
                  <a:path w="192" h="86">
                    <a:moveTo>
                      <a:pt x="0" y="86"/>
                    </a:moveTo>
                    <a:lnTo>
                      <a:pt x="5" y="84"/>
                    </a:lnTo>
                    <a:lnTo>
                      <a:pt x="10" y="82"/>
                    </a:lnTo>
                    <a:lnTo>
                      <a:pt x="14" y="80"/>
                    </a:lnTo>
                    <a:lnTo>
                      <a:pt x="19" y="79"/>
                    </a:lnTo>
                    <a:lnTo>
                      <a:pt x="24" y="77"/>
                    </a:lnTo>
                    <a:lnTo>
                      <a:pt x="29" y="75"/>
                    </a:lnTo>
                    <a:lnTo>
                      <a:pt x="34" y="73"/>
                    </a:lnTo>
                    <a:lnTo>
                      <a:pt x="38" y="71"/>
                    </a:lnTo>
                    <a:lnTo>
                      <a:pt x="43" y="69"/>
                    </a:lnTo>
                    <a:lnTo>
                      <a:pt x="48" y="67"/>
                    </a:lnTo>
                    <a:lnTo>
                      <a:pt x="53" y="65"/>
                    </a:lnTo>
                    <a:lnTo>
                      <a:pt x="58" y="63"/>
                    </a:lnTo>
                    <a:lnTo>
                      <a:pt x="62" y="61"/>
                    </a:lnTo>
                    <a:lnTo>
                      <a:pt x="67" y="59"/>
                    </a:lnTo>
                    <a:lnTo>
                      <a:pt x="72" y="57"/>
                    </a:lnTo>
                    <a:lnTo>
                      <a:pt x="77" y="55"/>
                    </a:lnTo>
                    <a:lnTo>
                      <a:pt x="82" y="53"/>
                    </a:lnTo>
                    <a:lnTo>
                      <a:pt x="86" y="50"/>
                    </a:lnTo>
                    <a:lnTo>
                      <a:pt x="91" y="48"/>
                    </a:lnTo>
                    <a:lnTo>
                      <a:pt x="96" y="46"/>
                    </a:lnTo>
                    <a:lnTo>
                      <a:pt x="101" y="44"/>
                    </a:lnTo>
                    <a:lnTo>
                      <a:pt x="106" y="42"/>
                    </a:lnTo>
                    <a:lnTo>
                      <a:pt x="110" y="40"/>
                    </a:lnTo>
                    <a:lnTo>
                      <a:pt x="115" y="37"/>
                    </a:lnTo>
                    <a:lnTo>
                      <a:pt x="120" y="35"/>
                    </a:lnTo>
                    <a:lnTo>
                      <a:pt x="125" y="33"/>
                    </a:lnTo>
                    <a:lnTo>
                      <a:pt x="130" y="31"/>
                    </a:lnTo>
                    <a:lnTo>
                      <a:pt x="134" y="29"/>
                    </a:lnTo>
                    <a:lnTo>
                      <a:pt x="139" y="26"/>
                    </a:lnTo>
                    <a:lnTo>
                      <a:pt x="144" y="24"/>
                    </a:lnTo>
                    <a:lnTo>
                      <a:pt x="149" y="22"/>
                    </a:lnTo>
                    <a:lnTo>
                      <a:pt x="154" y="19"/>
                    </a:lnTo>
                    <a:lnTo>
                      <a:pt x="158" y="17"/>
                    </a:lnTo>
                    <a:lnTo>
                      <a:pt x="163" y="15"/>
                    </a:lnTo>
                    <a:lnTo>
                      <a:pt x="168" y="12"/>
                    </a:lnTo>
                    <a:lnTo>
                      <a:pt x="173" y="10"/>
                    </a:lnTo>
                    <a:lnTo>
                      <a:pt x="178" y="7"/>
                    </a:lnTo>
                    <a:lnTo>
                      <a:pt x="182" y="5"/>
                    </a:lnTo>
                    <a:lnTo>
                      <a:pt x="187" y="2"/>
                    </a:lnTo>
                    <a:lnTo>
                      <a:pt x="192" y="0"/>
                    </a:lnTo>
                  </a:path>
                </a:pathLst>
              </a:custGeom>
              <a:noFill/>
              <a:ln w="22859">
                <a:solidFill>
                  <a:srgbClr val="2377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984285" y="3612202"/>
                <a:ext cx="60960" cy="6096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291523" y="3463078"/>
                <a:ext cx="60960" cy="6096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628022" y="3345321"/>
                <a:ext cx="60960" cy="6096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964522" y="3163825"/>
                <a:ext cx="60960" cy="6096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0213238" y="3055127"/>
                <a:ext cx="60960" cy="6096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618220" y="2727960"/>
                <a:ext cx="2133600" cy="22860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Yu Gothic"/>
                    <a:ea typeface="Yu Gothic"/>
                  </a:rPr>
                  <a:t>磁場変化 ΔB</a:t>
                </a:r>
              </a:p>
            </p:txBody>
          </p:sp>
          <p:sp>
            <p:nvSpPr>
              <p:cNvPr id="108" name="TextBox 107"/>
              <p:cNvSpPr txBox="1"/>
              <p:nvPr/>
            </p:nvSpPr>
            <p:spPr>
              <a:xfrm>
                <a:off x="9334500" y="3855720"/>
                <a:ext cx="1447800" cy="21336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617689"/>
                    </a:solidFill>
                    <a:latin typeface="Yu Gothic"/>
                    <a:ea typeface="Yu Gothic"/>
                  </a:rPr>
                  <a:t>曲げ変位 y</a:t>
                </a:r>
              </a:p>
            </p:txBody>
          </p:sp>
          <p:sp>
            <p:nvSpPr>
              <p:cNvPr id="109" name="Freeform 108"/>
              <p:cNvSpPr/>
              <p:nvPr/>
            </p:nvSpPr>
            <p:spPr>
              <a:xfrm>
                <a:off x="10637520" y="3002280"/>
                <a:ext cx="190500" cy="0"/>
              </a:xfrm>
              <a:custGeom>
                <a:avLst/>
                <a:gdLst/>
                <a:ahLst/>
                <a:cxnLst/>
                <a:rect l="l" t="t" r="r" b="b"/>
                <a:pathLst>
                  <a:path w="25" h="0">
                    <a:moveTo>
                      <a:pt x="0" y="0"/>
                    </a:moveTo>
                    <a:lnTo>
                      <a:pt x="25" y="0"/>
                    </a:lnTo>
                  </a:path>
                </a:pathLst>
              </a:custGeom>
              <a:noFill/>
              <a:ln w="22859">
                <a:solidFill>
                  <a:srgbClr val="2377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10904220" y="2903220"/>
                <a:ext cx="693420" cy="22860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2377C5"/>
                    </a:solidFill>
                    <a:latin typeface="Yu Gothic"/>
                    <a:ea typeface="Yu Gothic"/>
                  </a:rPr>
                  <a:t>モデル</a:t>
                </a:r>
              </a:p>
            </p:txBody>
          </p:sp>
          <p:sp>
            <p:nvSpPr>
              <p:cNvPr id="111" name="Oval 110"/>
              <p:cNvSpPr/>
              <p:nvPr/>
            </p:nvSpPr>
            <p:spPr>
              <a:xfrm>
                <a:off x="10706100" y="3284220"/>
                <a:ext cx="60960" cy="60960"/>
              </a:xfrm>
              <a:prstGeom prst="ellipse">
                <a:avLst/>
              </a:prstGeom>
              <a:solidFill>
                <a:srgbClr val="D8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904220" y="3208020"/>
                <a:ext cx="693420" cy="228600"/>
              </a:xfrm>
              <a:prstGeom prst="rect">
                <a:avLst/>
              </a:prstGeom>
              <a:noFill/>
            </p:spPr>
            <p:txBody>
              <a:bodyPr wrap="none" lIns="0" rIns="0" tIns="0" bIns="0" anchor="t">
                <a:spAutoFit/>
              </a:bodyPr>
              <a:lstStyle/>
              <a:p>
                <a:pPr algn="l">
                  <a:lnSpc>
                    <a:spcPts val="1382"/>
                  </a:lnSpc>
                  <a:spcBef>
                    <a:spcPts val="0"/>
                  </a:spcBef>
                  <a:spcAft>
                    <a:spcPts val="0"/>
                  </a:spcAft>
                </a:pPr>
                <a:r>
                  <a:rPr sz="1080" b="0">
                    <a:solidFill>
                      <a:srgbClr val="D86B35"/>
                    </a:solidFill>
                    <a:latin typeface="Yu Gothic"/>
                    <a:ea typeface="Yu Gothic"/>
                  </a:rPr>
                  <a:t>実測</a:t>
                </a:r>
              </a:p>
            </p:txBody>
          </p:sp>
          <p:sp>
            <p:nvSpPr>
              <p:cNvPr id="113" name="TextBox 112"/>
              <p:cNvSpPr txBox="1"/>
              <p:nvPr/>
            </p:nvSpPr>
            <p:spPr>
              <a:xfrm>
                <a:off x="8267700" y="4099560"/>
                <a:ext cx="3276600" cy="243840"/>
              </a:xfrm>
              <a:prstGeom prst="rect">
                <a:avLst/>
              </a:prstGeom>
              <a:noFill/>
            </p:spPr>
            <p:txBody>
              <a:bodyPr wrap="none" lIns="0" rIns="0" tIns="0" bIns="0" anchor="t">
                <a:spAutoFit/>
              </a:bodyPr>
              <a:lstStyle/>
              <a:p>
                <a:pPr algn="ctr">
                  <a:lnSpc>
                    <a:spcPts val="1766"/>
                  </a:lnSpc>
                  <a:spcBef>
                    <a:spcPts val="0"/>
                  </a:spcBef>
                  <a:spcAft>
                    <a:spcPts val="0"/>
                  </a:spcAft>
                </a:pPr>
                <a:r>
                  <a:rPr sz="1380" b="1">
                    <a:solidFill>
                      <a:srgbClr val="142C44"/>
                    </a:solidFill>
                    <a:latin typeface="Yu Gothic"/>
                    <a:ea typeface="Yu Gothic"/>
                  </a:rPr>
                  <a:t>厚みを変え、両者の差を評価する</a:t>
                </a:r>
              </a:p>
            </p:txBody>
          </p:sp>
        </p:grpSp>
        <p:grpSp>
          <p:nvGrpSpPr>
            <p:cNvPr id="114" name="段階をつなぐ矢印"/>
            <p:cNvGrpSpPr/>
            <p:nvPr/>
          </p:nvGrpSpPr>
          <p:grpSpPr>
            <a:xfrm>
              <a:off x="3802380" y="3093720"/>
              <a:ext cx="4267200" cy="76200"/>
              <a:chOff x="3802380" y="3093720"/>
              <a:chExt cx="4267200" cy="76200"/>
            </a:xfrm>
          </p:grpSpPr>
          <p:sp>
            <p:nvSpPr>
              <p:cNvPr id="115" name="Freeform 114"/>
              <p:cNvSpPr/>
              <p:nvPr/>
            </p:nvSpPr>
            <p:spPr>
              <a:xfrm>
                <a:off x="3802380" y="3131820"/>
                <a:ext cx="160020" cy="0"/>
              </a:xfrm>
              <a:custGeom>
                <a:avLst/>
                <a:gdLst/>
                <a:ahLst/>
                <a:cxnLst/>
                <a:rect l="l" t="t" r="r" b="b"/>
                <a:pathLst>
                  <a:path w="21" h="0">
                    <a:moveTo>
                      <a:pt x="0" y="0"/>
                    </a:moveTo>
                    <a:lnTo>
                      <a:pt x="21" y="0"/>
                    </a:lnTo>
                  </a:path>
                </a:pathLst>
              </a:custGeom>
              <a:noFill/>
              <a:ln w="2285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Freeform 115"/>
              <p:cNvSpPr/>
              <p:nvPr/>
            </p:nvSpPr>
            <p:spPr>
              <a:xfrm>
                <a:off x="3893820" y="3093720"/>
                <a:ext cx="68580" cy="76200"/>
              </a:xfrm>
              <a:custGeom>
                <a:avLst/>
                <a:gdLst/>
                <a:ahLst/>
                <a:cxnLst/>
                <a:rect l="l" t="t" r="r" b="b"/>
                <a:pathLst>
                  <a:path w="9" h="10">
                    <a:moveTo>
                      <a:pt x="9" y="5"/>
                    </a:moveTo>
                    <a:lnTo>
                      <a:pt x="0" y="0"/>
                    </a:lnTo>
                    <a:lnTo>
                      <a:pt x="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7909560" y="3131820"/>
                <a:ext cx="160020" cy="0"/>
              </a:xfrm>
              <a:custGeom>
                <a:avLst/>
                <a:gdLst/>
                <a:ahLst/>
                <a:cxnLst/>
                <a:rect l="l" t="t" r="r" b="b"/>
                <a:pathLst>
                  <a:path w="21" h="0">
                    <a:moveTo>
                      <a:pt x="0" y="0"/>
                    </a:moveTo>
                    <a:lnTo>
                      <a:pt x="21" y="0"/>
                    </a:lnTo>
                  </a:path>
                </a:pathLst>
              </a:custGeom>
              <a:noFill/>
              <a:ln w="22859">
                <a:solidFill>
                  <a:srgbClr val="61768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8001000" y="3093720"/>
                <a:ext cx="68580" cy="76200"/>
              </a:xfrm>
              <a:custGeom>
                <a:avLst/>
                <a:gdLst/>
                <a:ahLst/>
                <a:cxnLst/>
                <a:rect l="l" t="t" r="r" b="b"/>
                <a:pathLst>
                  <a:path w="9" h="10">
                    <a:moveTo>
                      <a:pt x="9" y="5"/>
                    </a:moveTo>
                    <a:lnTo>
                      <a:pt x="0" y="0"/>
                    </a:lnTo>
                    <a:lnTo>
                      <a:pt x="0" y="10"/>
                    </a:lnTo>
                    <a:close/>
                  </a:path>
                </a:pathLst>
              </a:custGeom>
              <a:solidFill>
                <a:srgbClr val="6176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19" name="一致した場合の解釈"/>
            <p:cNvGrpSpPr/>
            <p:nvPr/>
          </p:nvGrpSpPr>
          <p:grpSpPr>
            <a:xfrm>
              <a:off x="548640" y="4640580"/>
              <a:ext cx="11094720" cy="381000"/>
              <a:chOff x="548640" y="4640580"/>
              <a:chExt cx="11094720" cy="381000"/>
            </a:xfrm>
          </p:grpSpPr>
          <p:sp>
            <p:nvSpPr>
              <p:cNvPr id="120" name="TextBox 119"/>
              <p:cNvSpPr txBox="1"/>
              <p:nvPr/>
            </p:nvSpPr>
            <p:spPr>
              <a:xfrm>
                <a:off x="548640" y="4640580"/>
                <a:ext cx="11094720" cy="381000"/>
              </a:xfrm>
              <a:prstGeom prst="rect">
                <a:avLst/>
              </a:prstGeom>
              <a:noFill/>
            </p:spPr>
            <p:txBody>
              <a:bodyPr wrap="none" lIns="0" rIns="0" tIns="0" bIns="0" anchor="t">
                <a:spAutoFit/>
              </a:bodyPr>
              <a:lstStyle/>
              <a:p>
                <a:pPr algn="ctr">
                  <a:lnSpc>
                    <a:spcPts val="2150"/>
                  </a:lnSpc>
                  <a:spcBef>
                    <a:spcPts val="0"/>
                  </a:spcBef>
                  <a:spcAft>
                    <a:spcPts val="0"/>
                  </a:spcAft>
                </a:pPr>
                <a:r>
                  <a:rPr sz="1680" b="1">
                    <a:solidFill>
                      <a:srgbClr val="142C44"/>
                    </a:solidFill>
                    <a:latin typeface="Yu Gothic"/>
                    <a:ea typeface="Yu Gothic"/>
                  </a:rPr>
                  <a:t>誤差の範囲内で一致すれば、その条件では回転の影響を省いて推定できることを支持</a:t>
                </a:r>
              </a:p>
            </p:txBody>
          </p:sp>
        </p:grpSp>
        <p:grpSp>
          <p:nvGrpSpPr>
            <p:cNvPr id="121" name="学術的知見と設計基盤"/>
            <p:cNvGrpSpPr/>
            <p:nvPr/>
          </p:nvGrpSpPr>
          <p:grpSpPr>
            <a:xfrm>
              <a:off x="533400" y="5143500"/>
              <a:ext cx="11125200" cy="845820"/>
              <a:chOff x="533400" y="5143500"/>
              <a:chExt cx="11125200" cy="845820"/>
            </a:xfrm>
          </p:grpSpPr>
          <p:sp>
            <p:nvSpPr>
              <p:cNvPr id="122" name="Rounded Rectangle 121"/>
              <p:cNvSpPr/>
              <p:nvPr/>
            </p:nvSpPr>
            <p:spPr>
              <a:xfrm>
                <a:off x="533400" y="5143500"/>
                <a:ext cx="5448300" cy="845820"/>
              </a:xfrm>
              <a:prstGeom prst="roundRect">
                <a:avLst>
                  <a:gd name="adj" fmla="val 12000"/>
                </a:avLst>
              </a:prstGeom>
              <a:solidFill>
                <a:srgbClr val="EA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23900" y="5250180"/>
                <a:ext cx="1485900" cy="32766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2377C5"/>
                    </a:solidFill>
                    <a:latin typeface="Yu Gothic"/>
                    <a:ea typeface="Yu Gothic"/>
                  </a:rPr>
                  <a:t>学術的知見</a:t>
                </a:r>
              </a:p>
            </p:txBody>
          </p:sp>
          <p:sp>
            <p:nvSpPr>
              <p:cNvPr id="124" name="TextBox 123"/>
              <p:cNvSpPr txBox="1"/>
              <p:nvPr/>
            </p:nvSpPr>
            <p:spPr>
              <a:xfrm>
                <a:off x="2377440" y="5303520"/>
                <a:ext cx="3429000" cy="510540"/>
              </a:xfrm>
              <a:prstGeom prst="rect">
                <a:avLst/>
              </a:prstGeom>
              <a:noFill/>
            </p:spPr>
            <p:txBody>
              <a:bodyPr wrap="none" lIns="0" rIns="0" tIns="0" bIns="0" anchor="t">
                <a:spAutoFit/>
              </a:bodyPr>
              <a:lstStyle/>
              <a:p>
                <a:pPr algn="l">
                  <a:lnSpc>
                    <a:spcPts val="1996"/>
                  </a:lnSpc>
                  <a:spcBef>
                    <a:spcPts val="0"/>
                  </a:spcBef>
                  <a:spcAft>
                    <a:spcPts val="0"/>
                  </a:spcAft>
                </a:pPr>
                <a:r>
                  <a:rPr sz="1560" b="1">
                    <a:solidFill>
                      <a:srgbClr val="121212"/>
                    </a:solidFill>
                    <a:latin typeface="Yu Gothic"/>
                    <a:ea typeface="Yu Gothic"/>
                  </a:rPr>
                  <a:t>回転の影響を省ける</a:t>
                </a:r>
              </a:p>
              <a:p>
                <a:pPr algn="l">
                  <a:lnSpc>
                    <a:spcPts val="1996"/>
                  </a:lnSpc>
                  <a:spcBef>
                    <a:spcPts val="0"/>
                  </a:spcBef>
                  <a:spcAft>
                    <a:spcPts val="0"/>
                  </a:spcAft>
                </a:pPr>
                <a:r>
                  <a:rPr sz="1560" b="1">
                    <a:solidFill>
                      <a:srgbClr val="121212"/>
                    </a:solidFill>
                    <a:latin typeface="Yu Gothic"/>
                    <a:ea typeface="Yu Gothic"/>
                  </a:rPr>
                  <a:t>条件・適用範囲</a:t>
                </a:r>
              </a:p>
            </p:txBody>
          </p:sp>
          <p:sp>
            <p:nvSpPr>
              <p:cNvPr id="125" name="Rounded Rectangle 124"/>
              <p:cNvSpPr/>
              <p:nvPr/>
            </p:nvSpPr>
            <p:spPr>
              <a:xfrm>
                <a:off x="6210300" y="5143500"/>
                <a:ext cx="5448300" cy="845820"/>
              </a:xfrm>
              <a:prstGeom prst="roundRect">
                <a:avLst>
                  <a:gd name="adj" fmla="val 12000"/>
                </a:avLst>
              </a:prstGeom>
              <a:solidFill>
                <a:srgbClr val="E7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6400800" y="5250180"/>
                <a:ext cx="1485900" cy="327660"/>
              </a:xfrm>
              <a:prstGeom prst="rect">
                <a:avLst/>
              </a:prstGeom>
              <a:noFill/>
            </p:spPr>
            <p:txBody>
              <a:bodyPr wrap="none" lIns="0" rIns="0" tIns="0" bIns="0" anchor="t">
                <a:spAutoFit/>
              </a:bodyPr>
              <a:lstStyle/>
              <a:p>
                <a:pPr algn="l">
                  <a:lnSpc>
                    <a:spcPts val="2150"/>
                  </a:lnSpc>
                  <a:spcBef>
                    <a:spcPts val="0"/>
                  </a:spcBef>
                  <a:spcAft>
                    <a:spcPts val="0"/>
                  </a:spcAft>
                </a:pPr>
                <a:r>
                  <a:rPr sz="1680" b="1">
                    <a:solidFill>
                      <a:srgbClr val="007F86"/>
                    </a:solidFill>
                    <a:latin typeface="Yu Gothic"/>
                    <a:ea typeface="Yu Gothic"/>
                  </a:rPr>
                  <a:t>設計基盤</a:t>
                </a:r>
              </a:p>
            </p:txBody>
          </p:sp>
          <p:sp>
            <p:nvSpPr>
              <p:cNvPr id="127" name="TextBox 126"/>
              <p:cNvSpPr txBox="1"/>
              <p:nvPr/>
            </p:nvSpPr>
            <p:spPr>
              <a:xfrm>
                <a:off x="8039100" y="5303520"/>
                <a:ext cx="3429000" cy="510540"/>
              </a:xfrm>
              <a:prstGeom prst="rect">
                <a:avLst/>
              </a:prstGeom>
              <a:noFill/>
            </p:spPr>
            <p:txBody>
              <a:bodyPr wrap="none" lIns="0" rIns="0" tIns="0" bIns="0" anchor="t">
                <a:spAutoFit/>
              </a:bodyPr>
              <a:lstStyle/>
              <a:p>
                <a:pPr algn="l">
                  <a:lnSpc>
                    <a:spcPts val="1996"/>
                  </a:lnSpc>
                  <a:spcBef>
                    <a:spcPts val="0"/>
                  </a:spcBef>
                  <a:spcAft>
                    <a:spcPts val="0"/>
                  </a:spcAft>
                </a:pPr>
                <a:r>
                  <a:rPr sz="1560" b="1">
                    <a:solidFill>
                      <a:srgbClr val="121212"/>
                    </a:solidFill>
                    <a:latin typeface="Yu Gothic"/>
                    <a:ea typeface="Yu Gothic"/>
                  </a:rPr>
                  <a:t>薄板PMEの磁場を</a:t>
                </a:r>
              </a:p>
              <a:p>
                <a:pPr algn="l">
                  <a:lnSpc>
                    <a:spcPts val="1996"/>
                  </a:lnSpc>
                  <a:spcBef>
                    <a:spcPts val="0"/>
                  </a:spcBef>
                  <a:spcAft>
                    <a:spcPts val="0"/>
                  </a:spcAft>
                </a:pPr>
                <a:r>
                  <a:rPr sz="1560" b="1">
                    <a:solidFill>
                      <a:srgbClr val="121212"/>
                    </a:solidFill>
                    <a:latin typeface="Yu Gothic"/>
                    <a:ea typeface="Yu Gothic"/>
                  </a:rPr>
                  <a:t>単純なモデルで予測する指針</a:t>
                </a:r>
              </a:p>
            </p:txBody>
          </p:sp>
        </p:grpSp>
        <p:grpSp>
          <p:nvGrpSpPr>
            <p:cNvPr id="128" name="出典と模式図の区別"/>
            <p:cNvGrpSpPr/>
            <p:nvPr/>
          </p:nvGrpSpPr>
          <p:grpSpPr>
            <a:xfrm>
              <a:off x="571500" y="6149340"/>
              <a:ext cx="11049000" cy="198120"/>
              <a:chOff x="571500" y="6149340"/>
              <a:chExt cx="11049000" cy="198120"/>
            </a:xfrm>
          </p:grpSpPr>
          <p:sp>
            <p:nvSpPr>
              <p:cNvPr id="129" name="TextBox 128"/>
              <p:cNvSpPr txBox="1"/>
              <p:nvPr/>
            </p:nvSpPr>
            <p:spPr>
              <a:xfrm>
                <a:off x="571500" y="6149340"/>
                <a:ext cx="11049000" cy="198120"/>
              </a:xfrm>
              <a:prstGeom prst="rect">
                <a:avLst/>
              </a:prstGeom>
              <a:noFill/>
            </p:spPr>
            <p:txBody>
              <a:bodyPr wrap="none" lIns="0" rIns="0" tIns="0" bIns="0" anchor="t">
                <a:spAutoFit/>
              </a:bodyPr>
              <a:lstStyle/>
              <a:p>
                <a:pPr algn="l">
                  <a:lnSpc>
                    <a:spcPts val="1305"/>
                  </a:lnSpc>
                  <a:spcBef>
                    <a:spcPts val="0"/>
                  </a:spcBef>
                  <a:spcAft>
                    <a:spcPts val="0"/>
                  </a:spcAft>
                </a:pPr>
                <a:r>
                  <a:rPr sz="1019" b="0">
                    <a:solidFill>
                      <a:srgbClr val="617689"/>
                    </a:solidFill>
                    <a:latin typeface="Yu Gothic"/>
                    <a:ea typeface="Yu Gothic"/>
                  </a:rPr>
                  <a:t>［1］大江岳歩，修士論文，2025（添付資料p.24）。0.536°はPMFUEの報告値で、PMEに定量適用しない。図は模式図。</a:t>
                </a: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実施目的：粒子回転を省いた磁場モデルの適用範囲を調べる</dc:title>
  <dc:subject/>
  <dc:creator>大橋 怜倭</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