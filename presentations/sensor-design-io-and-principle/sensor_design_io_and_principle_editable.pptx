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挿入位置】添付PDFの6ページ「PMEを用いたセンサ」の次、元の7ページの差し替えとして使用します。このスライドが本文用です。次のスライドは先行研究の説明を残すための補足であり、10分発表では必要に応じて使います。</a:t>
            </a:r>
          </a:p>
          <a:p/>
          <a:p>
            <a:r>
              <a:t>【説明例・約50秒】</a:t>
            </a:r>
          </a:p>
          <a:p>
            <a:r>
              <a:t>ここまでに、PMEを変形させると周囲の磁場が変化し、その変化をセンサで読み取れることを説明しました。これを曲げ量を求めるセンサとして使うには、二つの理解が必要です。一つ目は、どれだけ曲げると、どれだけ磁場が変わるかという入出力の関係です。この関係を調べることで、測定した出力を曲げ量に換算できます。特に直線に近い関係なら換算しやすいため、感度と線形性を評価します。二つ目は、磁場がなぜ変わるかというセンシング原理です。変形時に磁場源や磁性微粒子の位置・向きがどう影響するかを理解することで、形状や材料、センサを置く位置を選ぶ根拠が得られます。そのため本研究では、入出力の関係と磁場変化の要因を調べ、曲げセンサの設計指針へつなげます。</a:t>
            </a:r>
          </a:p>
          <a:p/>
          <a:p>
            <a:r>
              <a:t>【図の読み方】</a:t>
            </a:r>
          </a:p>
          <a:p>
            <a:r>
              <a:t>入力は曲げ変位y、出力は磁場変化ΔBです。左のグラフは入出力の対応を表す概念図であり、実測データやPME一般の線形性を示したものではありません。右の微粒子図は、位置と向きの変化を検討するための模式図です。粒子回転が今回の薄板曲げで実証されたという主張ではありません。磁場源とセンサの相対位置・姿勢、断面変形、粒子の挙動などを切り分ける必要があります。</a:t>
            </a:r>
          </a:p>
          <a:p/>
          <a:p>
            <a:r>
              <a:t>【先行研究との関係】</a:t>
            </a:r>
          </a:p>
          <a:p>
            <a:r>
              <a:t>参考［1］はH-PMEの接触力推定であり、本研究の曲げ変位推定とは入力と配置が異なります。参考［2］は永久磁石発泡ウレタンエラストマーの一様圧縮を対象としており、本研究のソリッドな薄板PMEの曲げと同一ではありません。詳細は補足スライドに整理しました。書誌情報はユーザー提供の元スライドに基づいており、文献本文の追加検証は実施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【用途】先行研究の根拠を説明するための補足スライドです。本文の差し替えスライドと連続で使うこともできますが、10分発表では発表時間に応じて補足に回せます。</a:t>
            </a:r>
          </a:p>
          <a:p/>
          <a:p>
            <a:r>
              <a:t>【説明例・約45秒】</a:t>
            </a:r>
          </a:p>
          <a:p>
            <a:r>
              <a:t>先行研究にも、これら二つの観点が見られます。H-PMEを用いた接触力センサの研究では、磁場分布から三軸の力を線形モデルで推定し、RMSEが0.7ニュートン未満であることを報告しています。これは入出力の対応関係が、測定値から入力を求めるために役立つ例です。一方、永久磁石発泡ウレタンエラストマーの圧縮研究では、内部の磁性微粒子の並進と回転を磁場計算に組み込んでいます。こちらは磁場変化を生む要因をモデルで説明する例です。本研究では、材料・変形条件の異なる薄板PMEの曲げについて、この二つの理解を進めます。</a:t>
            </a:r>
          </a:p>
          <a:p/>
          <a:p>
            <a:r>
              <a:t>【注意】</a:t>
            </a:r>
          </a:p>
          <a:p>
            <a:r>
              <a:t>このスライドのRMSEの記述と書誌情報は、ユーザー提供の7ページ相当のスライドに記載された内容に基づきます。論文本文の追加検証は実施していません。H-PMEの結果を、すべてのPMEの力学・磁場応答が線形であることの証明として扱わないでください。</a:t>
            </a:r>
          </a:p>
          <a:p/>
          <a:p>
            <a:r>
              <a:t>元スライドには圧縮モデルについて「最小二乗誤差：平均0.010 mT」との記載もありますが、二乗誤差と単位の定義をPDFだけから確認できないため、改良版の図では数値を再掲せず、モデルに含めた要因を説明しています。</a:t>
            </a:r>
          </a:p>
          <a:p/>
          <a:p>
            <a:r>
              <a:t>圧縮される微粒子図は概念図です。粒子の移動量・回転角や磁場を測定した結果を再現するものではありません。また、本研究の薄板曲げで同じ寄与が検証済みという意味でもありません。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スライド全体：図形・テキストで編集可能"/>
          <p:cNvGrpSpPr/>
          <p:nvPr/>
        </p:nvGrpSpPr>
        <p:grpSpPr>
          <a:xfrm>
            <a:off x="0" y="167640"/>
            <a:ext cx="12192000" cy="6637020"/>
            <a:chOff x="0" y="167640"/>
            <a:chExt cx="12192000" cy="6637020"/>
          </a:xfrm>
        </p:grpSpPr>
        <p:grpSp>
          <p:nvGrpSpPr>
            <p:cNvPr id="3" name="見出し・フッター"/>
            <p:cNvGrpSpPr/>
            <p:nvPr/>
          </p:nvGrpSpPr>
          <p:grpSpPr>
            <a:xfrm>
              <a:off x="0" y="167640"/>
              <a:ext cx="12192000" cy="6637020"/>
              <a:chOff x="0" y="167640"/>
              <a:chExt cx="12192000" cy="6637020"/>
            </a:xfrm>
          </p:grpSpPr>
          <p:sp>
            <p:nvSpPr>
              <p:cNvPr id="4" name="TextBox 3"/>
              <p:cNvSpPr txBox="1"/>
              <p:nvPr/>
            </p:nvSpPr>
            <p:spPr>
              <a:xfrm>
                <a:off x="381000" y="167640"/>
                <a:ext cx="11315700" cy="594360"/>
              </a:xfrm>
              <a:prstGeom prst="rect">
                <a:avLst/>
              </a:prstGeom>
              <a:noFill/>
            </p:spPr>
            <p:txBody>
              <a:bodyPr wrap="none" lIns="0" rIns="0" tIns="0" bIns="0" anchor="t">
                <a:spAutoFit/>
              </a:bodyPr>
              <a:lstStyle/>
              <a:p>
                <a:pPr algn="l">
                  <a:lnSpc>
                    <a:spcPts val="4300"/>
                  </a:lnSpc>
                  <a:spcBef>
                    <a:spcPts val="0"/>
                  </a:spcBef>
                  <a:spcAft>
                    <a:spcPts val="0"/>
                  </a:spcAft>
                </a:pPr>
                <a:r>
                  <a:rPr sz="3360" b="1">
                    <a:solidFill>
                      <a:srgbClr val="121212"/>
                    </a:solidFill>
                    <a:latin typeface="Yu Gothic"/>
                    <a:ea typeface="Yu Gothic"/>
                  </a:rPr>
                  <a:t>センサ設計に必要な2つの理解</a:t>
                </a:r>
              </a:p>
            </p:txBody>
          </p:sp>
          <p:sp>
            <p:nvSpPr>
              <p:cNvPr id="5" name="Rectangle 4"/>
              <p:cNvSpPr/>
              <p:nvPr/>
            </p:nvSpPr>
            <p:spPr>
              <a:xfrm>
                <a:off x="0" y="845820"/>
                <a:ext cx="12192000" cy="990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52600" y="6560820"/>
                <a:ext cx="8534400" cy="243840"/>
              </a:xfrm>
              <a:prstGeom prst="rect">
                <a:avLst/>
              </a:prstGeom>
              <a:noFill/>
            </p:spPr>
            <p:txBody>
              <a:bodyPr wrap="none" lIns="0" rIns="0" tIns="0" bIns="0" anchor="t">
                <a:spAutoFit/>
              </a:bodyPr>
              <a:lstStyle/>
              <a:p>
                <a:pPr algn="ctr">
                  <a:lnSpc>
                    <a:spcPts val="1612"/>
                  </a:lnSpc>
                  <a:spcBef>
                    <a:spcPts val="0"/>
                  </a:spcBef>
                  <a:spcAft>
                    <a:spcPts val="0"/>
                  </a:spcAft>
                </a:pPr>
                <a:r>
                  <a:rPr sz="1260" b="0">
                    <a:solidFill>
                      <a:srgbClr val="121212"/>
                    </a:solidFill>
                    <a:latin typeface="Yu Gothic"/>
                    <a:ea typeface="Yu Gothic"/>
                  </a:rPr>
                  <a:t>Function Design Laboratory, Nagoya Institute of Technology</a:t>
                </a:r>
              </a:p>
            </p:txBody>
          </p:sp>
          <p:sp>
            <p:nvSpPr>
              <p:cNvPr id="7" name="TextBox 6"/>
              <p:cNvSpPr txBox="1"/>
              <p:nvPr/>
            </p:nvSpPr>
            <p:spPr>
              <a:xfrm>
                <a:off x="11163300" y="6553200"/>
                <a:ext cx="609600" cy="24384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121212"/>
                    </a:solidFill>
                    <a:latin typeface="Yu Gothic"/>
                    <a:ea typeface="Yu Gothic"/>
                  </a:rPr>
                  <a:t>7</a:t>
                </a:r>
              </a:p>
            </p:txBody>
          </p:sp>
        </p:grpSp>
        <p:grpSp>
          <p:nvGrpSpPr>
            <p:cNvPr id="8" name="前ページからの接続"/>
            <p:cNvGrpSpPr/>
            <p:nvPr/>
          </p:nvGrpSpPr>
          <p:grpSpPr>
            <a:xfrm>
              <a:off x="548640" y="1120140"/>
              <a:ext cx="11125200" cy="335280"/>
              <a:chOff x="548640" y="1120140"/>
              <a:chExt cx="11125200" cy="335280"/>
            </a:xfrm>
          </p:grpSpPr>
          <p:sp>
            <p:nvSpPr>
              <p:cNvPr id="9" name="TextBox 8"/>
              <p:cNvSpPr txBox="1"/>
              <p:nvPr/>
            </p:nvSpPr>
            <p:spPr>
              <a:xfrm>
                <a:off x="548640" y="1120140"/>
                <a:ext cx="11125200" cy="335280"/>
              </a:xfrm>
              <a:prstGeom prst="rect">
                <a:avLst/>
              </a:prstGeom>
              <a:noFill/>
            </p:spPr>
            <p:txBody>
              <a:bodyPr wrap="none" lIns="0" rIns="0" tIns="0" bIns="0" anchor="t">
                <a:spAutoFit/>
              </a:bodyPr>
              <a:lstStyle/>
              <a:p>
                <a:pPr algn="l">
                  <a:lnSpc>
                    <a:spcPts val="2457"/>
                  </a:lnSpc>
                  <a:spcBef>
                    <a:spcPts val="0"/>
                  </a:spcBef>
                  <a:spcAft>
                    <a:spcPts val="0"/>
                  </a:spcAft>
                </a:pPr>
                <a:r>
                  <a:rPr sz="1920" b="0">
                    <a:solidFill>
                      <a:srgbClr val="617689"/>
                    </a:solidFill>
                    <a:latin typeface="Yu Gothic"/>
                    <a:ea typeface="Yu Gothic"/>
                  </a:rPr>
                  <a:t>PMEの変形は磁場で検出できる。曲げ量を求めるセンサへつなげるには…</a:t>
                </a:r>
              </a:p>
            </p:txBody>
          </p:sp>
        </p:grpSp>
        <p:grpSp>
          <p:nvGrpSpPr>
            <p:cNvPr id="10" name="入力・センサ・出力の関係図"/>
            <p:cNvGrpSpPr/>
            <p:nvPr/>
          </p:nvGrpSpPr>
          <p:grpSpPr>
            <a:xfrm>
              <a:off x="533400" y="1638300"/>
              <a:ext cx="11125200" cy="1074420"/>
              <a:chOff x="533400" y="1638300"/>
              <a:chExt cx="11125200" cy="1074420"/>
            </a:xfrm>
          </p:grpSpPr>
          <p:sp>
            <p:nvSpPr>
              <p:cNvPr id="11" name="Rounded Rectangle 10"/>
              <p:cNvSpPr/>
              <p:nvPr/>
            </p:nvSpPr>
            <p:spPr>
              <a:xfrm>
                <a:off x="533400" y="1638300"/>
                <a:ext cx="2552700" cy="1074420"/>
              </a:xfrm>
              <a:prstGeom prst="roundRect">
                <a:avLst>
                  <a:gd name="adj" fmla="val 12000"/>
                </a:avLst>
              </a:prstGeom>
              <a:solidFill>
                <a:srgbClr val="FC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775460"/>
                <a:ext cx="2247900" cy="350520"/>
              </a:xfrm>
              <a:prstGeom prst="rect">
                <a:avLst/>
              </a:prstGeom>
              <a:noFill/>
            </p:spPr>
            <p:txBody>
              <a:bodyPr wrap="none" lIns="0" rIns="0" tIns="0" bIns="0" anchor="t">
                <a:spAutoFit/>
              </a:bodyPr>
              <a:lstStyle/>
              <a:p>
                <a:pPr algn="ctr">
                  <a:lnSpc>
                    <a:spcPts val="2380"/>
                  </a:lnSpc>
                  <a:spcBef>
                    <a:spcPts val="0"/>
                  </a:spcBef>
                  <a:spcAft>
                    <a:spcPts val="0"/>
                  </a:spcAft>
                </a:pPr>
                <a:r>
                  <a:rPr sz="1859" b="1">
                    <a:solidFill>
                      <a:srgbClr val="D86B35"/>
                    </a:solidFill>
                    <a:latin typeface="Yu Gothic"/>
                    <a:ea typeface="Yu Gothic"/>
                  </a:rPr>
                  <a:t>入力：曲げ変位 y</a:t>
                </a:r>
              </a:p>
            </p:txBody>
          </p:sp>
          <p:sp>
            <p:nvSpPr>
              <p:cNvPr id="13" name="TextBox 12"/>
              <p:cNvSpPr txBox="1"/>
              <p:nvPr/>
            </p:nvSpPr>
            <p:spPr>
              <a:xfrm>
                <a:off x="685800" y="2209800"/>
                <a:ext cx="2247900" cy="320040"/>
              </a:xfrm>
              <a:prstGeom prst="rect">
                <a:avLst/>
              </a:prstGeom>
              <a:noFill/>
            </p:spPr>
            <p:txBody>
              <a:bodyPr wrap="none" lIns="0" rIns="0" tIns="0" bIns="0" anchor="t">
                <a:spAutoFit/>
              </a:bodyPr>
              <a:lstStyle/>
              <a:p>
                <a:pPr algn="ctr">
                  <a:lnSpc>
                    <a:spcPts val="2150"/>
                  </a:lnSpc>
                  <a:spcBef>
                    <a:spcPts val="0"/>
                  </a:spcBef>
                  <a:spcAft>
                    <a:spcPts val="0"/>
                  </a:spcAft>
                </a:pPr>
                <a:r>
                  <a:rPr sz="1680" b="0">
                    <a:solidFill>
                      <a:srgbClr val="121212"/>
                    </a:solidFill>
                    <a:latin typeface="Yu Gothic"/>
                    <a:ea typeface="Yu Gothic"/>
                  </a:rPr>
                  <a:t>どれだけ曲げたか</a:t>
                </a:r>
              </a:p>
            </p:txBody>
          </p:sp>
          <p:sp>
            <p:nvSpPr>
              <p:cNvPr id="14" name="Freeform 13"/>
              <p:cNvSpPr/>
              <p:nvPr/>
            </p:nvSpPr>
            <p:spPr>
              <a:xfrm>
                <a:off x="3230880" y="2171700"/>
                <a:ext cx="472440" cy="0"/>
              </a:xfrm>
              <a:custGeom>
                <a:avLst/>
                <a:gdLst/>
                <a:ahLst/>
                <a:cxnLst/>
                <a:rect l="l" t="t" r="r" b="b"/>
                <a:pathLst>
                  <a:path w="62" h="0">
                    <a:moveTo>
                      <a:pt x="0" y="0"/>
                    </a:moveTo>
                    <a:lnTo>
                      <a:pt x="62" y="0"/>
                    </a:lnTo>
                  </a:path>
                </a:pathLst>
              </a:custGeom>
              <a:noFill/>
              <a:ln w="3810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581400" y="2110740"/>
                <a:ext cx="121920" cy="121920"/>
              </a:xfrm>
              <a:custGeom>
                <a:avLst/>
                <a:gdLst/>
                <a:ahLst/>
                <a:cxnLst/>
                <a:rect l="l" t="t" r="r" b="b"/>
                <a:pathLst>
                  <a:path w="16" h="16">
                    <a:moveTo>
                      <a:pt x="16" y="8"/>
                    </a:moveTo>
                    <a:lnTo>
                      <a:pt x="0" y="0"/>
                    </a:lnTo>
                    <a:lnTo>
                      <a:pt x="0" y="16"/>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886200" y="1638300"/>
                <a:ext cx="4419600" cy="107442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13860" y="1767840"/>
                <a:ext cx="670560" cy="9906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526280" y="1866900"/>
                <a:ext cx="91440" cy="670560"/>
              </a:xfrm>
              <a:custGeom>
                <a:avLst/>
                <a:gdLst/>
                <a:ahLst/>
                <a:cxnLst/>
                <a:rect l="l" t="t" r="r" b="b"/>
                <a:pathLst>
                  <a:path w="12" h="88">
                    <a:moveTo>
                      <a:pt x="0" y="0"/>
                    </a:moveTo>
                    <a:lnTo>
                      <a:pt x="0" y="3"/>
                    </a:lnTo>
                    <a:lnTo>
                      <a:pt x="0" y="6"/>
                    </a:lnTo>
                    <a:lnTo>
                      <a:pt x="0" y="9"/>
                    </a:lnTo>
                    <a:lnTo>
                      <a:pt x="0" y="12"/>
                    </a:lnTo>
                    <a:lnTo>
                      <a:pt x="0" y="15"/>
                    </a:lnTo>
                    <a:lnTo>
                      <a:pt x="0" y="18"/>
                    </a:lnTo>
                    <a:lnTo>
                      <a:pt x="0" y="21"/>
                    </a:lnTo>
                    <a:lnTo>
                      <a:pt x="0" y="23"/>
                    </a:lnTo>
                    <a:lnTo>
                      <a:pt x="0" y="26"/>
                    </a:lnTo>
                    <a:lnTo>
                      <a:pt x="0" y="29"/>
                    </a:lnTo>
                    <a:lnTo>
                      <a:pt x="0" y="32"/>
                    </a:lnTo>
                    <a:lnTo>
                      <a:pt x="0" y="35"/>
                    </a:lnTo>
                    <a:lnTo>
                      <a:pt x="0" y="38"/>
                    </a:lnTo>
                    <a:lnTo>
                      <a:pt x="0" y="41"/>
                    </a:lnTo>
                    <a:lnTo>
                      <a:pt x="0" y="44"/>
                    </a:lnTo>
                    <a:lnTo>
                      <a:pt x="0" y="47"/>
                    </a:lnTo>
                    <a:lnTo>
                      <a:pt x="0" y="50"/>
                    </a:lnTo>
                    <a:lnTo>
                      <a:pt x="0" y="53"/>
                    </a:lnTo>
                    <a:lnTo>
                      <a:pt x="0" y="56"/>
                    </a:lnTo>
                    <a:lnTo>
                      <a:pt x="0" y="59"/>
                    </a:lnTo>
                    <a:lnTo>
                      <a:pt x="0" y="62"/>
                    </a:lnTo>
                    <a:lnTo>
                      <a:pt x="0" y="65"/>
                    </a:lnTo>
                    <a:lnTo>
                      <a:pt x="0" y="67"/>
                    </a:lnTo>
                    <a:lnTo>
                      <a:pt x="0" y="70"/>
                    </a:lnTo>
                    <a:lnTo>
                      <a:pt x="0" y="73"/>
                    </a:lnTo>
                    <a:lnTo>
                      <a:pt x="0" y="76"/>
                    </a:lnTo>
                    <a:lnTo>
                      <a:pt x="0" y="79"/>
                    </a:lnTo>
                    <a:lnTo>
                      <a:pt x="0" y="82"/>
                    </a:lnTo>
                    <a:lnTo>
                      <a:pt x="0" y="85"/>
                    </a:lnTo>
                    <a:lnTo>
                      <a:pt x="0" y="88"/>
                    </a:lnTo>
                    <a:lnTo>
                      <a:pt x="12" y="88"/>
                    </a:lnTo>
                    <a:lnTo>
                      <a:pt x="12" y="85"/>
                    </a:lnTo>
                    <a:lnTo>
                      <a:pt x="12" y="82"/>
                    </a:lnTo>
                    <a:lnTo>
                      <a:pt x="12" y="79"/>
                    </a:lnTo>
                    <a:lnTo>
                      <a:pt x="12" y="76"/>
                    </a:lnTo>
                    <a:lnTo>
                      <a:pt x="12" y="73"/>
                    </a:lnTo>
                    <a:lnTo>
                      <a:pt x="12" y="70"/>
                    </a:lnTo>
                    <a:lnTo>
                      <a:pt x="12" y="67"/>
                    </a:lnTo>
                    <a:lnTo>
                      <a:pt x="12" y="65"/>
                    </a:lnTo>
                    <a:lnTo>
                      <a:pt x="12" y="62"/>
                    </a:lnTo>
                    <a:lnTo>
                      <a:pt x="12" y="59"/>
                    </a:lnTo>
                    <a:lnTo>
                      <a:pt x="12" y="56"/>
                    </a:lnTo>
                    <a:lnTo>
                      <a:pt x="12" y="53"/>
                    </a:lnTo>
                    <a:lnTo>
                      <a:pt x="12" y="50"/>
                    </a:lnTo>
                    <a:lnTo>
                      <a:pt x="12" y="47"/>
                    </a:lnTo>
                    <a:lnTo>
                      <a:pt x="12" y="44"/>
                    </a:lnTo>
                    <a:lnTo>
                      <a:pt x="12" y="41"/>
                    </a:lnTo>
                    <a:lnTo>
                      <a:pt x="12" y="38"/>
                    </a:lnTo>
                    <a:lnTo>
                      <a:pt x="12" y="35"/>
                    </a:lnTo>
                    <a:lnTo>
                      <a:pt x="12" y="32"/>
                    </a:lnTo>
                    <a:lnTo>
                      <a:pt x="12" y="29"/>
                    </a:lnTo>
                    <a:lnTo>
                      <a:pt x="12" y="26"/>
                    </a:lnTo>
                    <a:lnTo>
                      <a:pt x="12" y="23"/>
                    </a:lnTo>
                    <a:lnTo>
                      <a:pt x="12" y="21"/>
                    </a:lnTo>
                    <a:lnTo>
                      <a:pt x="12" y="18"/>
                    </a:lnTo>
                    <a:lnTo>
                      <a:pt x="12" y="15"/>
                    </a:lnTo>
                    <a:lnTo>
                      <a:pt x="12" y="12"/>
                    </a:lnTo>
                    <a:lnTo>
                      <a:pt x="12" y="9"/>
                    </a:lnTo>
                    <a:lnTo>
                      <a:pt x="12" y="6"/>
                    </a:lnTo>
                    <a:lnTo>
                      <a:pt x="12" y="3"/>
                    </a:lnTo>
                    <a:lnTo>
                      <a:pt x="12" y="0"/>
                    </a:lnTo>
                    <a:close/>
                  </a:path>
                </a:pathLst>
              </a:custGeom>
              <a:solidFill>
                <a:srgbClr val="C1C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4168140" y="1866900"/>
                <a:ext cx="464820" cy="670560"/>
              </a:xfrm>
              <a:custGeom>
                <a:avLst/>
                <a:gdLst/>
                <a:ahLst/>
                <a:cxnLst/>
                <a:rect l="l" t="t" r="r" b="b"/>
                <a:pathLst>
                  <a:path w="61" h="88">
                    <a:moveTo>
                      <a:pt x="45" y="0"/>
                    </a:moveTo>
                    <a:lnTo>
                      <a:pt x="45" y="3"/>
                    </a:lnTo>
                    <a:lnTo>
                      <a:pt x="45" y="6"/>
                    </a:lnTo>
                    <a:lnTo>
                      <a:pt x="44" y="9"/>
                    </a:lnTo>
                    <a:lnTo>
                      <a:pt x="44" y="12"/>
                    </a:lnTo>
                    <a:lnTo>
                      <a:pt x="43" y="15"/>
                    </a:lnTo>
                    <a:lnTo>
                      <a:pt x="42" y="18"/>
                    </a:lnTo>
                    <a:lnTo>
                      <a:pt x="42" y="21"/>
                    </a:lnTo>
                    <a:lnTo>
                      <a:pt x="41" y="23"/>
                    </a:lnTo>
                    <a:lnTo>
                      <a:pt x="40" y="26"/>
                    </a:lnTo>
                    <a:lnTo>
                      <a:pt x="38" y="29"/>
                    </a:lnTo>
                    <a:lnTo>
                      <a:pt x="37" y="32"/>
                    </a:lnTo>
                    <a:lnTo>
                      <a:pt x="36" y="35"/>
                    </a:lnTo>
                    <a:lnTo>
                      <a:pt x="34" y="38"/>
                    </a:lnTo>
                    <a:lnTo>
                      <a:pt x="33" y="41"/>
                    </a:lnTo>
                    <a:lnTo>
                      <a:pt x="31" y="44"/>
                    </a:lnTo>
                    <a:lnTo>
                      <a:pt x="29" y="47"/>
                    </a:lnTo>
                    <a:lnTo>
                      <a:pt x="27" y="50"/>
                    </a:lnTo>
                    <a:lnTo>
                      <a:pt x="26" y="53"/>
                    </a:lnTo>
                    <a:lnTo>
                      <a:pt x="24" y="56"/>
                    </a:lnTo>
                    <a:lnTo>
                      <a:pt x="22" y="59"/>
                    </a:lnTo>
                    <a:lnTo>
                      <a:pt x="20" y="62"/>
                    </a:lnTo>
                    <a:lnTo>
                      <a:pt x="18" y="65"/>
                    </a:lnTo>
                    <a:lnTo>
                      <a:pt x="15" y="67"/>
                    </a:lnTo>
                    <a:lnTo>
                      <a:pt x="13" y="70"/>
                    </a:lnTo>
                    <a:lnTo>
                      <a:pt x="11" y="73"/>
                    </a:lnTo>
                    <a:lnTo>
                      <a:pt x="9" y="76"/>
                    </a:lnTo>
                    <a:lnTo>
                      <a:pt x="7" y="79"/>
                    </a:lnTo>
                    <a:lnTo>
                      <a:pt x="4" y="82"/>
                    </a:lnTo>
                    <a:lnTo>
                      <a:pt x="2" y="85"/>
                    </a:lnTo>
                    <a:lnTo>
                      <a:pt x="0" y="88"/>
                    </a:lnTo>
                    <a:lnTo>
                      <a:pt x="16" y="88"/>
                    </a:lnTo>
                    <a:lnTo>
                      <a:pt x="18" y="85"/>
                    </a:lnTo>
                    <a:lnTo>
                      <a:pt x="20" y="82"/>
                    </a:lnTo>
                    <a:lnTo>
                      <a:pt x="23" y="79"/>
                    </a:lnTo>
                    <a:lnTo>
                      <a:pt x="25" y="76"/>
                    </a:lnTo>
                    <a:lnTo>
                      <a:pt x="27" y="73"/>
                    </a:lnTo>
                    <a:lnTo>
                      <a:pt x="29" y="70"/>
                    </a:lnTo>
                    <a:lnTo>
                      <a:pt x="31" y="67"/>
                    </a:lnTo>
                    <a:lnTo>
                      <a:pt x="34" y="65"/>
                    </a:lnTo>
                    <a:lnTo>
                      <a:pt x="36" y="62"/>
                    </a:lnTo>
                    <a:lnTo>
                      <a:pt x="38" y="59"/>
                    </a:lnTo>
                    <a:lnTo>
                      <a:pt x="40" y="56"/>
                    </a:lnTo>
                    <a:lnTo>
                      <a:pt x="42" y="53"/>
                    </a:lnTo>
                    <a:lnTo>
                      <a:pt x="43" y="50"/>
                    </a:lnTo>
                    <a:lnTo>
                      <a:pt x="45" y="47"/>
                    </a:lnTo>
                    <a:lnTo>
                      <a:pt x="47" y="44"/>
                    </a:lnTo>
                    <a:lnTo>
                      <a:pt x="49" y="41"/>
                    </a:lnTo>
                    <a:lnTo>
                      <a:pt x="50" y="38"/>
                    </a:lnTo>
                    <a:lnTo>
                      <a:pt x="52" y="35"/>
                    </a:lnTo>
                    <a:lnTo>
                      <a:pt x="53" y="32"/>
                    </a:lnTo>
                    <a:lnTo>
                      <a:pt x="54" y="29"/>
                    </a:lnTo>
                    <a:lnTo>
                      <a:pt x="56" y="26"/>
                    </a:lnTo>
                    <a:lnTo>
                      <a:pt x="57" y="23"/>
                    </a:lnTo>
                    <a:lnTo>
                      <a:pt x="58" y="21"/>
                    </a:lnTo>
                    <a:lnTo>
                      <a:pt x="58" y="18"/>
                    </a:lnTo>
                    <a:lnTo>
                      <a:pt x="59" y="15"/>
                    </a:lnTo>
                    <a:lnTo>
                      <a:pt x="60" y="12"/>
                    </a:lnTo>
                    <a:lnTo>
                      <a:pt x="60" y="9"/>
                    </a:lnTo>
                    <a:lnTo>
                      <a:pt x="61" y="6"/>
                    </a:lnTo>
                    <a:lnTo>
                      <a:pt x="61" y="3"/>
                    </a:lnTo>
                    <a:lnTo>
                      <a:pt x="61"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5584" y="1915973"/>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86849" y="2043379"/>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22861" y="217078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40676" y="2298192"/>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47350" y="242559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95900" y="1965960"/>
                <a:ext cx="346710" cy="330708"/>
              </a:xfrm>
              <a:prstGeom prst="roundRect">
                <a:avLst>
                  <a:gd name="adj" fmla="val 12000"/>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86578" y="2045970"/>
                <a:ext cx="165354" cy="16535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5234940" y="203454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5638800" y="203454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5234940" y="212598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638800" y="212598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234940" y="221742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638800" y="2217420"/>
                <a:ext cx="60960" cy="0"/>
              </a:xfrm>
              <a:custGeom>
                <a:avLst/>
                <a:gdLst/>
                <a:ahLst/>
                <a:cxnLst/>
                <a:rect l="l" t="t" r="r" b="b"/>
                <a:pathLst>
                  <a:path w="8" h="0">
                    <a:moveTo>
                      <a:pt x="0" y="0"/>
                    </a:moveTo>
                    <a:lnTo>
                      <a:pt x="8" y="0"/>
                    </a:lnTo>
                  </a:path>
                </a:pathLst>
              </a:custGeom>
              <a:noFill/>
              <a:ln w="16001">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1700" y="1752600"/>
                <a:ext cx="2095500" cy="33528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142C44"/>
                    </a:solidFill>
                    <a:latin typeface="Yu Gothic"/>
                    <a:ea typeface="Yu Gothic"/>
                  </a:rPr>
                  <a:t>PME＋磁場センサ</a:t>
                </a:r>
              </a:p>
            </p:txBody>
          </p:sp>
          <p:sp>
            <p:nvSpPr>
              <p:cNvPr id="34" name="TextBox 33"/>
              <p:cNvSpPr txBox="1"/>
              <p:nvPr/>
            </p:nvSpPr>
            <p:spPr>
              <a:xfrm>
                <a:off x="6004560" y="2148840"/>
                <a:ext cx="2057400" cy="289560"/>
              </a:xfrm>
              <a:prstGeom prst="rect">
                <a:avLst/>
              </a:prstGeom>
              <a:noFill/>
            </p:spPr>
            <p:txBody>
              <a:bodyPr wrap="none" lIns="0" rIns="0" tIns="0" bIns="0" anchor="t">
                <a:spAutoFit/>
              </a:bodyPr>
              <a:lstStyle/>
              <a:p>
                <a:pPr algn="ctr">
                  <a:lnSpc>
                    <a:spcPts val="1766"/>
                  </a:lnSpc>
                  <a:spcBef>
                    <a:spcPts val="0"/>
                  </a:spcBef>
                  <a:spcAft>
                    <a:spcPts val="0"/>
                  </a:spcAft>
                </a:pPr>
                <a:r>
                  <a:rPr sz="1380" b="0">
                    <a:solidFill>
                      <a:srgbClr val="617689"/>
                    </a:solidFill>
                    <a:latin typeface="Yu Gothic"/>
                    <a:ea typeface="Yu Gothic"/>
                  </a:rPr>
                  <a:t>曲げる → 磁場が変わる</a:t>
                </a:r>
              </a:p>
            </p:txBody>
          </p:sp>
          <p:sp>
            <p:nvSpPr>
              <p:cNvPr id="35" name="Freeform 34"/>
              <p:cNvSpPr/>
              <p:nvPr/>
            </p:nvSpPr>
            <p:spPr>
              <a:xfrm>
                <a:off x="8450580" y="2171700"/>
                <a:ext cx="472440" cy="0"/>
              </a:xfrm>
              <a:custGeom>
                <a:avLst/>
                <a:gdLst/>
                <a:ahLst/>
                <a:cxnLst/>
                <a:rect l="l" t="t" r="r" b="b"/>
                <a:pathLst>
                  <a:path w="62" h="0">
                    <a:moveTo>
                      <a:pt x="0" y="0"/>
                    </a:moveTo>
                    <a:lnTo>
                      <a:pt x="62" y="0"/>
                    </a:lnTo>
                  </a:path>
                </a:pathLst>
              </a:custGeom>
              <a:noFill/>
              <a:ln w="3810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8801100" y="2110740"/>
                <a:ext cx="121920" cy="121920"/>
              </a:xfrm>
              <a:custGeom>
                <a:avLst/>
                <a:gdLst/>
                <a:ahLst/>
                <a:cxnLst/>
                <a:rect l="l" t="t" r="r" b="b"/>
                <a:pathLst>
                  <a:path w="16" h="16">
                    <a:moveTo>
                      <a:pt x="16" y="8"/>
                    </a:moveTo>
                    <a:lnTo>
                      <a:pt x="0" y="0"/>
                    </a:lnTo>
                    <a:lnTo>
                      <a:pt x="0" y="16"/>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105900" y="1638300"/>
                <a:ext cx="2552700" cy="1074420"/>
              </a:xfrm>
              <a:prstGeom prst="roundRect">
                <a:avLst>
                  <a:gd name="adj" fmla="val 12000"/>
                </a:avLst>
              </a:prstGeom>
              <a:solidFill>
                <a:srgbClr val="EA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0200" y="1775460"/>
                <a:ext cx="2324100" cy="3429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2377C5"/>
                    </a:solidFill>
                    <a:latin typeface="Yu Gothic"/>
                    <a:ea typeface="Yu Gothic"/>
                  </a:rPr>
                  <a:t>出力：磁場の変化 ΔB</a:t>
                </a:r>
              </a:p>
            </p:txBody>
          </p:sp>
          <p:sp>
            <p:nvSpPr>
              <p:cNvPr id="39" name="TextBox 38"/>
              <p:cNvSpPr txBox="1"/>
              <p:nvPr/>
            </p:nvSpPr>
            <p:spPr>
              <a:xfrm>
                <a:off x="9258300" y="2209800"/>
                <a:ext cx="2247900" cy="320040"/>
              </a:xfrm>
              <a:prstGeom prst="rect">
                <a:avLst/>
              </a:prstGeom>
              <a:noFill/>
            </p:spPr>
            <p:txBody>
              <a:bodyPr wrap="none" lIns="0" rIns="0" tIns="0" bIns="0" anchor="t">
                <a:spAutoFit/>
              </a:bodyPr>
              <a:lstStyle/>
              <a:p>
                <a:pPr algn="ctr">
                  <a:lnSpc>
                    <a:spcPts val="2150"/>
                  </a:lnSpc>
                  <a:spcBef>
                    <a:spcPts val="0"/>
                  </a:spcBef>
                  <a:spcAft>
                    <a:spcPts val="0"/>
                  </a:spcAft>
                </a:pPr>
                <a:r>
                  <a:rPr sz="1680" b="0">
                    <a:solidFill>
                      <a:srgbClr val="121212"/>
                    </a:solidFill>
                    <a:latin typeface="Yu Gothic"/>
                    <a:ea typeface="Yu Gothic"/>
                  </a:rPr>
                  <a:t>センサで読む信号</a:t>
                </a:r>
              </a:p>
            </p:txBody>
          </p:sp>
        </p:grpSp>
        <p:grpSp>
          <p:nvGrpSpPr>
            <p:cNvPr id="40" name="1：入出力の関係を知る意味"/>
            <p:cNvGrpSpPr/>
            <p:nvPr/>
          </p:nvGrpSpPr>
          <p:grpSpPr>
            <a:xfrm>
              <a:off x="533400" y="2948940"/>
              <a:ext cx="5448300" cy="2354580"/>
              <a:chOff x="533400" y="2948940"/>
              <a:chExt cx="5448300" cy="2354580"/>
            </a:xfrm>
          </p:grpSpPr>
          <p:sp>
            <p:nvSpPr>
              <p:cNvPr id="41" name="Rounded Rectangle 40"/>
              <p:cNvSpPr/>
              <p:nvPr/>
            </p:nvSpPr>
            <p:spPr>
              <a:xfrm>
                <a:off x="533400" y="2948940"/>
                <a:ext cx="5448300" cy="2354580"/>
              </a:xfrm>
              <a:prstGeom prst="roundRect">
                <a:avLst>
                  <a:gd name="adj" fmla="val 6472"/>
                </a:avLst>
              </a:prstGeom>
              <a:solidFill>
                <a:srgbClr val="EA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6280" y="3093720"/>
                <a:ext cx="5105400" cy="396240"/>
              </a:xfrm>
              <a:prstGeom prst="rect">
                <a:avLst/>
              </a:prstGeom>
              <a:noFill/>
            </p:spPr>
            <p:txBody>
              <a:bodyPr wrap="none" lIns="0" rIns="0" tIns="0" bIns="0" anchor="t">
                <a:spAutoFit/>
              </a:bodyPr>
              <a:lstStyle/>
              <a:p>
                <a:pPr algn="l">
                  <a:lnSpc>
                    <a:spcPts val="2841"/>
                  </a:lnSpc>
                  <a:spcBef>
                    <a:spcPts val="0"/>
                  </a:spcBef>
                  <a:spcAft>
                    <a:spcPts val="0"/>
                  </a:spcAft>
                </a:pPr>
                <a:r>
                  <a:rPr sz="2220" b="1">
                    <a:solidFill>
                      <a:srgbClr val="2377C5"/>
                    </a:solidFill>
                    <a:latin typeface="Yu Gothic"/>
                    <a:ea typeface="Yu Gothic"/>
                  </a:rPr>
                  <a:t>① 入力と出力の関係</a:t>
                </a:r>
              </a:p>
            </p:txBody>
          </p:sp>
          <p:sp>
            <p:nvSpPr>
              <p:cNvPr id="43" name="Freeform 42"/>
              <p:cNvSpPr/>
              <p:nvPr/>
            </p:nvSpPr>
            <p:spPr>
              <a:xfrm>
                <a:off x="929640" y="4762500"/>
                <a:ext cx="1737360" cy="0"/>
              </a:xfrm>
              <a:custGeom>
                <a:avLst/>
                <a:gdLst/>
                <a:ahLst/>
                <a:cxnLst/>
                <a:rect l="l" t="t" r="r" b="b"/>
                <a:pathLst>
                  <a:path w="228" h="0">
                    <a:moveTo>
                      <a:pt x="0" y="0"/>
                    </a:moveTo>
                    <a:lnTo>
                      <a:pt x="228"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598420" y="4724400"/>
                <a:ext cx="68580" cy="76200"/>
              </a:xfrm>
              <a:custGeom>
                <a:avLst/>
                <a:gdLst/>
                <a:ahLst/>
                <a:cxnLst/>
                <a:rect l="l" t="t" r="r" b="b"/>
                <a:pathLst>
                  <a:path w="9" h="10">
                    <a:moveTo>
                      <a:pt x="9"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929640" y="3901440"/>
                <a:ext cx="0" cy="861060"/>
              </a:xfrm>
              <a:custGeom>
                <a:avLst/>
                <a:gdLst/>
                <a:ahLst/>
                <a:cxnLst/>
                <a:rect l="l" t="t" r="r" b="b"/>
                <a:pathLst>
                  <a:path w="0" h="113">
                    <a:moveTo>
                      <a:pt x="0" y="113"/>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91540" y="3901440"/>
                <a:ext cx="76200" cy="68580"/>
              </a:xfrm>
              <a:custGeom>
                <a:avLst/>
                <a:gdLst/>
                <a:ahLst/>
                <a:cxnLst/>
                <a:rect l="l" t="t" r="r" b="b"/>
                <a:pathLst>
                  <a:path w="10" h="9">
                    <a:moveTo>
                      <a:pt x="5" y="0"/>
                    </a:moveTo>
                    <a:lnTo>
                      <a:pt x="0" y="9"/>
                    </a:lnTo>
                    <a:lnTo>
                      <a:pt x="10" y="9"/>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89660" y="4008120"/>
                <a:ext cx="1402080" cy="647700"/>
              </a:xfrm>
              <a:custGeom>
                <a:avLst/>
                <a:gdLst/>
                <a:ahLst/>
                <a:cxnLst/>
                <a:rect l="l" t="t" r="r" b="b"/>
                <a:pathLst>
                  <a:path w="184" h="85">
                    <a:moveTo>
                      <a:pt x="0" y="85"/>
                    </a:moveTo>
                    <a:lnTo>
                      <a:pt x="184" y="0"/>
                    </a:lnTo>
                  </a:path>
                </a:pathLst>
              </a:custGeom>
              <a:noFill/>
              <a:ln w="30480">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339596" y="4495800"/>
                <a:ext cx="60960" cy="60960"/>
              </a:xfrm>
              <a:prstGeom prst="ellipse">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620012" y="4366260"/>
                <a:ext cx="60960" cy="60960"/>
              </a:xfrm>
              <a:prstGeom prst="ellipse">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900428" y="4236720"/>
                <a:ext cx="60960" cy="60960"/>
              </a:xfrm>
              <a:prstGeom prst="ellipse">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80844" y="4107180"/>
                <a:ext cx="60960" cy="60960"/>
              </a:xfrm>
              <a:prstGeom prst="ellipse">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34440" y="4823460"/>
                <a:ext cx="1638300" cy="228600"/>
              </a:xfrm>
              <a:prstGeom prst="rect">
                <a:avLst/>
              </a:prstGeom>
              <a:noFill/>
            </p:spPr>
            <p:txBody>
              <a:bodyPr wrap="none" lIns="0" rIns="0" tIns="0" bIns="0" anchor="t">
                <a:spAutoFit/>
              </a:bodyPr>
              <a:lstStyle/>
              <a:p>
                <a:pPr algn="ctr">
                  <a:lnSpc>
                    <a:spcPts val="1536"/>
                  </a:lnSpc>
                  <a:spcBef>
                    <a:spcPts val="0"/>
                  </a:spcBef>
                  <a:spcAft>
                    <a:spcPts val="0"/>
                  </a:spcAft>
                </a:pPr>
                <a:r>
                  <a:rPr sz="1200" b="0">
                    <a:solidFill>
                      <a:srgbClr val="617689"/>
                    </a:solidFill>
                    <a:latin typeface="Yu Gothic"/>
                    <a:ea typeface="Yu Gothic"/>
                  </a:rPr>
                  <a:t>曲げ変位 y</a:t>
                </a:r>
              </a:p>
            </p:txBody>
          </p:sp>
          <p:sp>
            <p:nvSpPr>
              <p:cNvPr id="53" name="TextBox 52"/>
              <p:cNvSpPr txBox="1"/>
              <p:nvPr/>
            </p:nvSpPr>
            <p:spPr>
              <a:xfrm>
                <a:off x="838200" y="3665220"/>
                <a:ext cx="1981200" cy="243840"/>
              </a:xfrm>
              <a:prstGeom prst="rect">
                <a:avLst/>
              </a:prstGeom>
              <a:noFill/>
            </p:spPr>
            <p:txBody>
              <a:bodyPr wrap="none" lIns="0" rIns="0" tIns="0" bIns="0" anchor="t">
                <a:spAutoFit/>
              </a:bodyPr>
              <a:lstStyle/>
              <a:p>
                <a:pPr algn="l">
                  <a:lnSpc>
                    <a:spcPts val="1536"/>
                  </a:lnSpc>
                  <a:spcBef>
                    <a:spcPts val="0"/>
                  </a:spcBef>
                  <a:spcAft>
                    <a:spcPts val="0"/>
                  </a:spcAft>
                </a:pPr>
                <a:r>
                  <a:rPr sz="1200" b="0">
                    <a:solidFill>
                      <a:srgbClr val="617689"/>
                    </a:solidFill>
                    <a:latin typeface="Yu Gothic"/>
                    <a:ea typeface="Yu Gothic"/>
                  </a:rPr>
                  <a:t>磁場変化 ΔB</a:t>
                </a:r>
              </a:p>
            </p:txBody>
          </p:sp>
          <p:sp>
            <p:nvSpPr>
              <p:cNvPr id="54" name="TextBox 53"/>
              <p:cNvSpPr txBox="1"/>
              <p:nvPr/>
            </p:nvSpPr>
            <p:spPr>
              <a:xfrm>
                <a:off x="3108960" y="3741420"/>
                <a:ext cx="2514600" cy="73152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121212"/>
                    </a:solidFill>
                    <a:latin typeface="Yu Gothic"/>
                    <a:ea typeface="Yu Gothic"/>
                  </a:rPr>
                  <a:t>出力から</a:t>
                </a:r>
              </a:p>
              <a:p>
                <a:pPr algn="l">
                  <a:lnSpc>
                    <a:spcPts val="2611"/>
                  </a:lnSpc>
                  <a:spcBef>
                    <a:spcPts val="0"/>
                  </a:spcBef>
                  <a:spcAft>
                    <a:spcPts val="0"/>
                  </a:spcAft>
                </a:pPr>
                <a:r>
                  <a:rPr sz="2039" b="1">
                    <a:solidFill>
                      <a:srgbClr val="121212"/>
                    </a:solidFill>
                    <a:latin typeface="Yu Gothic"/>
                    <a:ea typeface="Yu Gothic"/>
                  </a:rPr>
                  <a:t>曲げ量を求める</a:t>
                </a:r>
              </a:p>
            </p:txBody>
          </p:sp>
          <p:sp>
            <p:nvSpPr>
              <p:cNvPr id="55" name="TextBox 54"/>
              <p:cNvSpPr txBox="1"/>
              <p:nvPr/>
            </p:nvSpPr>
            <p:spPr>
              <a:xfrm>
                <a:off x="3116580" y="4518660"/>
                <a:ext cx="2476500" cy="3048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2377C5"/>
                    </a:solidFill>
                    <a:latin typeface="Yu Gothic"/>
                    <a:ea typeface="Yu Gothic"/>
                  </a:rPr>
                  <a:t>感度・線形性を評価</a:t>
                </a:r>
              </a:p>
            </p:txBody>
          </p:sp>
          <p:sp>
            <p:nvSpPr>
              <p:cNvPr id="56" name="TextBox 55"/>
              <p:cNvSpPr txBox="1"/>
              <p:nvPr/>
            </p:nvSpPr>
            <p:spPr>
              <a:xfrm>
                <a:off x="762000" y="5029200"/>
                <a:ext cx="4953000" cy="22860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Yu Gothic"/>
                    <a:ea typeface="Yu Gothic"/>
                  </a:rPr>
                  <a:t>関係図は模式図。実測データではない。</a:t>
                </a:r>
              </a:p>
            </p:txBody>
          </p:sp>
        </p:grpSp>
        <p:grpSp>
          <p:nvGrpSpPr>
            <p:cNvPr id="57" name="2：センシング原理を知る意味"/>
            <p:cNvGrpSpPr/>
            <p:nvPr/>
          </p:nvGrpSpPr>
          <p:grpSpPr>
            <a:xfrm>
              <a:off x="6210300" y="2948940"/>
              <a:ext cx="5448300" cy="2354580"/>
              <a:chOff x="6210300" y="2948940"/>
              <a:chExt cx="5448300" cy="2354580"/>
            </a:xfrm>
          </p:grpSpPr>
          <p:sp>
            <p:nvSpPr>
              <p:cNvPr id="58" name="Rounded Rectangle 57"/>
              <p:cNvSpPr/>
              <p:nvPr/>
            </p:nvSpPr>
            <p:spPr>
              <a:xfrm>
                <a:off x="6210300" y="2948940"/>
                <a:ext cx="5448300" cy="2354580"/>
              </a:xfrm>
              <a:prstGeom prst="roundRect">
                <a:avLst>
                  <a:gd name="adj" fmla="val 6472"/>
                </a:avLst>
              </a:prstGeom>
              <a:solidFill>
                <a:srgbClr val="FC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93180" y="3093720"/>
                <a:ext cx="5105400" cy="396240"/>
              </a:xfrm>
              <a:prstGeom prst="rect">
                <a:avLst/>
              </a:prstGeom>
              <a:noFill/>
            </p:spPr>
            <p:txBody>
              <a:bodyPr wrap="none" lIns="0" rIns="0" tIns="0" bIns="0" anchor="t">
                <a:spAutoFit/>
              </a:bodyPr>
              <a:lstStyle/>
              <a:p>
                <a:pPr algn="l">
                  <a:lnSpc>
                    <a:spcPts val="2841"/>
                  </a:lnSpc>
                  <a:spcBef>
                    <a:spcPts val="0"/>
                  </a:spcBef>
                  <a:spcAft>
                    <a:spcPts val="0"/>
                  </a:spcAft>
                </a:pPr>
                <a:r>
                  <a:rPr sz="2220" b="1">
                    <a:solidFill>
                      <a:srgbClr val="D86B35"/>
                    </a:solidFill>
                    <a:latin typeface="Yu Gothic"/>
                    <a:ea typeface="Yu Gothic"/>
                  </a:rPr>
                  <a:t>② センシング原理</a:t>
                </a:r>
              </a:p>
            </p:txBody>
          </p:sp>
          <p:sp>
            <p:nvSpPr>
              <p:cNvPr id="60" name="Rounded Rectangle 59"/>
              <p:cNvSpPr/>
              <p:nvPr/>
            </p:nvSpPr>
            <p:spPr>
              <a:xfrm>
                <a:off x="6507480" y="3794760"/>
                <a:ext cx="853440" cy="975360"/>
              </a:xfrm>
              <a:prstGeom prst="roundRect">
                <a:avLst>
                  <a:gd name="adj" fmla="val 1200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694932" y="3989527"/>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6713220" y="4061460"/>
                <a:ext cx="213360" cy="0"/>
              </a:xfrm>
              <a:custGeom>
                <a:avLst/>
                <a:gdLst/>
                <a:ahLst/>
                <a:cxnLst/>
                <a:rect l="l" t="t" r="r" b="b"/>
                <a:pathLst>
                  <a:path w="28" h="0">
                    <a:moveTo>
                      <a:pt x="0" y="0"/>
                    </a:moveTo>
                    <a:lnTo>
                      <a:pt x="28"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6865620" y="4023360"/>
                <a:ext cx="60960" cy="68580"/>
              </a:xfrm>
              <a:custGeom>
                <a:avLst/>
                <a:gdLst/>
                <a:ahLst/>
                <a:cxnLst/>
                <a:rect l="l" t="t" r="r" b="b"/>
                <a:pathLst>
                  <a:path w="8" h="9">
                    <a:moveTo>
                      <a:pt x="8" y="5"/>
                    </a:moveTo>
                    <a:lnTo>
                      <a:pt x="0" y="0"/>
                    </a:lnTo>
                    <a:lnTo>
                      <a:pt x="0" y="9"/>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036308" y="4116324"/>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7056120" y="4183380"/>
                <a:ext cx="205740" cy="0"/>
              </a:xfrm>
              <a:custGeom>
                <a:avLst/>
                <a:gdLst/>
                <a:ahLst/>
                <a:cxnLst/>
                <a:rect l="l" t="t" r="r" b="b"/>
                <a:pathLst>
                  <a:path w="27" h="0">
                    <a:moveTo>
                      <a:pt x="0" y="0"/>
                    </a:moveTo>
                    <a:lnTo>
                      <a:pt x="27"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7200900" y="415290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694932" y="4447946"/>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713220" y="4518660"/>
                <a:ext cx="213360" cy="0"/>
              </a:xfrm>
              <a:custGeom>
                <a:avLst/>
                <a:gdLst/>
                <a:ahLst/>
                <a:cxnLst/>
                <a:rect l="l" t="t" r="r" b="b"/>
                <a:pathLst>
                  <a:path w="28" h="0">
                    <a:moveTo>
                      <a:pt x="0" y="0"/>
                    </a:moveTo>
                    <a:lnTo>
                      <a:pt x="28"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865620" y="448818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7452360" y="4290060"/>
                <a:ext cx="297180" cy="0"/>
              </a:xfrm>
              <a:custGeom>
                <a:avLst/>
                <a:gdLst/>
                <a:ahLst/>
                <a:cxnLst/>
                <a:rect l="l" t="t" r="r" b="b"/>
                <a:pathLst>
                  <a:path w="39" h="0">
                    <a:moveTo>
                      <a:pt x="0" y="0"/>
                    </a:moveTo>
                    <a:lnTo>
                      <a:pt x="39"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7665720" y="4244340"/>
                <a:ext cx="83820" cy="91440"/>
              </a:xfrm>
              <a:custGeom>
                <a:avLst/>
                <a:gdLst/>
                <a:ahLst/>
                <a:cxnLst/>
                <a:rect l="l" t="t" r="r" b="b"/>
                <a:pathLst>
                  <a:path w="11" h="12">
                    <a:moveTo>
                      <a:pt x="11" y="6"/>
                    </a:moveTo>
                    <a:lnTo>
                      <a:pt x="0" y="0"/>
                    </a:lnTo>
                    <a:lnTo>
                      <a:pt x="0" y="12"/>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871460" y="3870960"/>
                <a:ext cx="853440" cy="822960"/>
              </a:xfrm>
              <a:prstGeom prst="roundRect">
                <a:avLst>
                  <a:gd name="adj" fmla="val 1200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016240" y="4032809"/>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8039100" y="4030980"/>
                <a:ext cx="190500" cy="91440"/>
              </a:xfrm>
              <a:custGeom>
                <a:avLst/>
                <a:gdLst/>
                <a:ahLst/>
                <a:cxnLst/>
                <a:rect l="l" t="t" r="r" b="b"/>
                <a:pathLst>
                  <a:path w="25" h="12">
                    <a:moveTo>
                      <a:pt x="0" y="12"/>
                    </a:moveTo>
                    <a:lnTo>
                      <a:pt x="25"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8161020" y="4030980"/>
                <a:ext cx="68580" cy="60960"/>
              </a:xfrm>
              <a:custGeom>
                <a:avLst/>
                <a:gdLst/>
                <a:ahLst/>
                <a:cxnLst/>
                <a:rect l="l" t="t" r="r" b="b"/>
                <a:pathLst>
                  <a:path w="9" h="8">
                    <a:moveTo>
                      <a:pt x="9" y="0"/>
                    </a:moveTo>
                    <a:lnTo>
                      <a:pt x="0" y="0"/>
                    </a:lnTo>
                    <a:lnTo>
                      <a:pt x="4"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417357" y="4156253"/>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8442960" y="4206240"/>
                <a:ext cx="190500" cy="76200"/>
              </a:xfrm>
              <a:custGeom>
                <a:avLst/>
                <a:gdLst/>
                <a:ahLst/>
                <a:cxnLst/>
                <a:rect l="l" t="t" r="r" b="b"/>
                <a:pathLst>
                  <a:path w="25" h="10">
                    <a:moveTo>
                      <a:pt x="0" y="0"/>
                    </a:moveTo>
                    <a:lnTo>
                      <a:pt x="25" y="1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8564880" y="4229100"/>
                <a:ext cx="68580" cy="60960"/>
              </a:xfrm>
              <a:custGeom>
                <a:avLst/>
                <a:gdLst/>
                <a:ahLst/>
                <a:cxnLst/>
                <a:rect l="l" t="t" r="r" b="b"/>
                <a:pathLst>
                  <a:path w="9" h="8">
                    <a:moveTo>
                      <a:pt x="9" y="7"/>
                    </a:moveTo>
                    <a:lnTo>
                      <a:pt x="3"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144256" y="4427830"/>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8168640" y="4465320"/>
                <a:ext cx="198120" cy="38100"/>
              </a:xfrm>
              <a:custGeom>
                <a:avLst/>
                <a:gdLst/>
                <a:ahLst/>
                <a:cxnLst/>
                <a:rect l="l" t="t" r="r" b="b"/>
                <a:pathLst>
                  <a:path w="26" h="5">
                    <a:moveTo>
                      <a:pt x="0" y="5"/>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8305800" y="4450080"/>
                <a:ext cx="60960" cy="60960"/>
              </a:xfrm>
              <a:custGeom>
                <a:avLst/>
                <a:gdLst/>
                <a:ahLst/>
                <a:cxnLst/>
                <a:rect l="l" t="t" r="r" b="b"/>
                <a:pathLst>
                  <a:path w="8" h="8">
                    <a:moveTo>
                      <a:pt x="8" y="2"/>
                    </a:moveTo>
                    <a:lnTo>
                      <a:pt x="0" y="0"/>
                    </a:lnTo>
                    <a:lnTo>
                      <a:pt x="1"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84620" y="4853940"/>
                <a:ext cx="2286000" cy="228600"/>
              </a:xfrm>
              <a:prstGeom prst="rect">
                <a:avLst/>
              </a:prstGeom>
              <a:noFill/>
            </p:spPr>
            <p:txBody>
              <a:bodyPr wrap="none" lIns="0" rIns="0" tIns="0" bIns="0" anchor="t">
                <a:spAutoFit/>
              </a:bodyPr>
              <a:lstStyle/>
              <a:p>
                <a:pPr algn="ctr">
                  <a:lnSpc>
                    <a:spcPts val="1382"/>
                  </a:lnSpc>
                  <a:spcBef>
                    <a:spcPts val="0"/>
                  </a:spcBef>
                  <a:spcAft>
                    <a:spcPts val="0"/>
                  </a:spcAft>
                </a:pPr>
                <a:r>
                  <a:rPr sz="1080" b="0">
                    <a:solidFill>
                      <a:srgbClr val="617689"/>
                    </a:solidFill>
                    <a:latin typeface="Yu Gothic"/>
                    <a:ea typeface="Yu Gothic"/>
                  </a:rPr>
                  <a:t>粒子の位置・向き（模式図）</a:t>
                </a:r>
              </a:p>
            </p:txBody>
          </p:sp>
          <p:sp>
            <p:nvSpPr>
              <p:cNvPr id="83" name="TextBox 82"/>
              <p:cNvSpPr txBox="1"/>
              <p:nvPr/>
            </p:nvSpPr>
            <p:spPr>
              <a:xfrm>
                <a:off x="9044940" y="3741420"/>
                <a:ext cx="2362200" cy="731520"/>
              </a:xfrm>
              <a:prstGeom prst="rect">
                <a:avLst/>
              </a:prstGeom>
              <a:noFill/>
            </p:spPr>
            <p:txBody>
              <a:bodyPr wrap="none" lIns="0" rIns="0" tIns="0" bIns="0" anchor="t">
                <a:spAutoFit/>
              </a:bodyPr>
              <a:lstStyle/>
              <a:p>
                <a:pPr algn="l">
                  <a:lnSpc>
                    <a:spcPts val="2534"/>
                  </a:lnSpc>
                  <a:spcBef>
                    <a:spcPts val="0"/>
                  </a:spcBef>
                  <a:spcAft>
                    <a:spcPts val="0"/>
                  </a:spcAft>
                </a:pPr>
                <a:r>
                  <a:rPr sz="1980" b="1">
                    <a:solidFill>
                      <a:srgbClr val="121212"/>
                    </a:solidFill>
                    <a:latin typeface="Yu Gothic"/>
                    <a:ea typeface="Yu Gothic"/>
                  </a:rPr>
                  <a:t>形状・材料・</a:t>
                </a:r>
              </a:p>
              <a:p>
                <a:pPr algn="l">
                  <a:lnSpc>
                    <a:spcPts val="2534"/>
                  </a:lnSpc>
                  <a:spcBef>
                    <a:spcPts val="0"/>
                  </a:spcBef>
                  <a:spcAft>
                    <a:spcPts val="0"/>
                  </a:spcAft>
                </a:pPr>
                <a:r>
                  <a:rPr sz="1980" b="1">
                    <a:solidFill>
                      <a:srgbClr val="121212"/>
                    </a:solidFill>
                    <a:latin typeface="Yu Gothic"/>
                    <a:ea typeface="Yu Gothic"/>
                  </a:rPr>
                  <a:t>計測位置を選ぶ</a:t>
                </a:r>
              </a:p>
            </p:txBody>
          </p:sp>
          <p:sp>
            <p:nvSpPr>
              <p:cNvPr id="84" name="TextBox 83"/>
              <p:cNvSpPr txBox="1"/>
              <p:nvPr/>
            </p:nvSpPr>
            <p:spPr>
              <a:xfrm>
                <a:off x="9052560" y="4526280"/>
                <a:ext cx="2362200" cy="304800"/>
              </a:xfrm>
              <a:prstGeom prst="rect">
                <a:avLst/>
              </a:prstGeom>
              <a:noFill/>
            </p:spPr>
            <p:txBody>
              <a:bodyPr wrap="none" lIns="0" rIns="0" tIns="0" bIns="0" anchor="t">
                <a:spAutoFit/>
              </a:bodyPr>
              <a:lstStyle/>
              <a:p>
                <a:pPr algn="l">
                  <a:lnSpc>
                    <a:spcPts val="1766"/>
                  </a:lnSpc>
                  <a:spcBef>
                    <a:spcPts val="0"/>
                  </a:spcBef>
                  <a:spcAft>
                    <a:spcPts val="0"/>
                  </a:spcAft>
                </a:pPr>
                <a:r>
                  <a:rPr sz="1380" b="1">
                    <a:solidFill>
                      <a:srgbClr val="D86B35"/>
                    </a:solidFill>
                    <a:latin typeface="Yu Gothic"/>
                    <a:ea typeface="Yu Gothic"/>
                  </a:rPr>
                  <a:t>主な変化要因を調べる</a:t>
                </a:r>
              </a:p>
            </p:txBody>
          </p:sp>
        </p:grpSp>
        <p:grpSp>
          <p:nvGrpSpPr>
            <p:cNvPr id="85" name="設計に結び付く結論"/>
            <p:cNvGrpSpPr/>
            <p:nvPr/>
          </p:nvGrpSpPr>
          <p:grpSpPr>
            <a:xfrm>
              <a:off x="533400" y="5486400"/>
              <a:ext cx="11125200" cy="952500"/>
              <a:chOff x="533400" y="5486400"/>
              <a:chExt cx="11125200" cy="952500"/>
            </a:xfrm>
          </p:grpSpPr>
          <p:sp>
            <p:nvSpPr>
              <p:cNvPr id="86" name="Rounded Rectangle 85"/>
              <p:cNvSpPr/>
              <p:nvPr/>
            </p:nvSpPr>
            <p:spPr>
              <a:xfrm>
                <a:off x="533400" y="5486400"/>
                <a:ext cx="11125200" cy="5867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78180" y="5623560"/>
                <a:ext cx="10835640" cy="388620"/>
              </a:xfrm>
              <a:prstGeom prst="rect">
                <a:avLst/>
              </a:prstGeom>
              <a:noFill/>
            </p:spPr>
            <p:txBody>
              <a:bodyPr wrap="none" lIns="0" rIns="0" tIns="0" bIns="0" anchor="t">
                <a:spAutoFit/>
              </a:bodyPr>
              <a:lstStyle/>
              <a:p>
                <a:pPr algn="ctr">
                  <a:lnSpc>
                    <a:spcPts val="2611"/>
                  </a:lnSpc>
                  <a:spcBef>
                    <a:spcPts val="0"/>
                  </a:spcBef>
                  <a:spcAft>
                    <a:spcPts val="0"/>
                  </a:spcAft>
                </a:pPr>
                <a:r>
                  <a:rPr sz="2039" b="1">
                    <a:solidFill>
                      <a:srgbClr val="007F86"/>
                    </a:solidFill>
                    <a:latin typeface="Yu Gothic"/>
                    <a:ea typeface="Yu Gothic"/>
                  </a:rPr>
                  <a:t>入出力の関係と原理の理解が、曲げセンサの設計指針につながる</a:t>
                </a:r>
              </a:p>
            </p:txBody>
          </p:sp>
          <p:sp>
            <p:nvSpPr>
              <p:cNvPr id="88" name="TextBox 87"/>
              <p:cNvSpPr txBox="1"/>
              <p:nvPr/>
            </p:nvSpPr>
            <p:spPr>
              <a:xfrm>
                <a:off x="586740" y="6210300"/>
                <a:ext cx="11049000" cy="22860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Yu Gothic"/>
                    <a:ea typeface="Yu Gothic"/>
                  </a:rPr>
                  <a:t>参考：［1］Q. Wang et al., Advanced Intelligent Systems, 2025.　［2］大江岳歩，修士論文，2025.</a:t>
                </a:r>
              </a:p>
            </p:txBody>
          </p:sp>
        </p:gr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スライド全体：図形・テキストで編集可能"/>
          <p:cNvGrpSpPr/>
          <p:nvPr/>
        </p:nvGrpSpPr>
        <p:grpSpPr>
          <a:xfrm>
            <a:off x="0" y="167640"/>
            <a:ext cx="12192000" cy="6637020"/>
            <a:chOff x="0" y="167640"/>
            <a:chExt cx="12192000" cy="6637020"/>
          </a:xfrm>
        </p:grpSpPr>
        <p:grpSp>
          <p:nvGrpSpPr>
            <p:cNvPr id="3" name="見出し・フッター"/>
            <p:cNvGrpSpPr/>
            <p:nvPr/>
          </p:nvGrpSpPr>
          <p:grpSpPr>
            <a:xfrm>
              <a:off x="0" y="167640"/>
              <a:ext cx="12192000" cy="6637020"/>
              <a:chOff x="0" y="167640"/>
              <a:chExt cx="12192000" cy="6637020"/>
            </a:xfrm>
          </p:grpSpPr>
          <p:sp>
            <p:nvSpPr>
              <p:cNvPr id="4" name="TextBox 3"/>
              <p:cNvSpPr txBox="1"/>
              <p:nvPr/>
            </p:nvSpPr>
            <p:spPr>
              <a:xfrm>
                <a:off x="381000" y="167640"/>
                <a:ext cx="11315700" cy="594360"/>
              </a:xfrm>
              <a:prstGeom prst="rect">
                <a:avLst/>
              </a:prstGeom>
              <a:noFill/>
            </p:spPr>
            <p:txBody>
              <a:bodyPr wrap="none" lIns="0" rIns="0" tIns="0" bIns="0" anchor="t">
                <a:spAutoFit/>
              </a:bodyPr>
              <a:lstStyle/>
              <a:p>
                <a:pPr algn="l">
                  <a:lnSpc>
                    <a:spcPts val="4300"/>
                  </a:lnSpc>
                  <a:spcBef>
                    <a:spcPts val="0"/>
                  </a:spcBef>
                  <a:spcAft>
                    <a:spcPts val="0"/>
                  </a:spcAft>
                </a:pPr>
                <a:r>
                  <a:rPr sz="3360" b="1">
                    <a:solidFill>
                      <a:srgbClr val="121212"/>
                    </a:solidFill>
                    <a:latin typeface="Yu Gothic"/>
                    <a:ea typeface="Yu Gothic"/>
                  </a:rPr>
                  <a:t>先行研究からみる「関係」と「原理」の重要性</a:t>
                </a:r>
              </a:p>
            </p:txBody>
          </p:sp>
          <p:sp>
            <p:nvSpPr>
              <p:cNvPr id="5" name="Rectangle 4"/>
              <p:cNvSpPr/>
              <p:nvPr/>
            </p:nvSpPr>
            <p:spPr>
              <a:xfrm>
                <a:off x="0" y="845820"/>
                <a:ext cx="12192000" cy="990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52600" y="6560820"/>
                <a:ext cx="8534400" cy="243840"/>
              </a:xfrm>
              <a:prstGeom prst="rect">
                <a:avLst/>
              </a:prstGeom>
              <a:noFill/>
            </p:spPr>
            <p:txBody>
              <a:bodyPr wrap="none" lIns="0" rIns="0" tIns="0" bIns="0" anchor="t">
                <a:spAutoFit/>
              </a:bodyPr>
              <a:lstStyle/>
              <a:p>
                <a:pPr algn="ctr">
                  <a:lnSpc>
                    <a:spcPts val="1612"/>
                  </a:lnSpc>
                  <a:spcBef>
                    <a:spcPts val="0"/>
                  </a:spcBef>
                  <a:spcAft>
                    <a:spcPts val="0"/>
                  </a:spcAft>
                </a:pPr>
                <a:r>
                  <a:rPr sz="1260" b="0">
                    <a:solidFill>
                      <a:srgbClr val="121212"/>
                    </a:solidFill>
                    <a:latin typeface="Yu Gothic"/>
                    <a:ea typeface="Yu Gothic"/>
                  </a:rPr>
                  <a:t>Function Design Laboratory, Nagoya Institute of Technology</a:t>
                </a:r>
              </a:p>
            </p:txBody>
          </p:sp>
          <p:sp>
            <p:nvSpPr>
              <p:cNvPr id="7" name="TextBox 6"/>
              <p:cNvSpPr txBox="1"/>
              <p:nvPr/>
            </p:nvSpPr>
            <p:spPr>
              <a:xfrm>
                <a:off x="11163300" y="6553200"/>
                <a:ext cx="609600" cy="24384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121212"/>
                    </a:solidFill>
                    <a:latin typeface="Yu Gothic"/>
                    <a:ea typeface="Yu Gothic"/>
                  </a:rPr>
                  <a:t>補足</a:t>
                </a:r>
              </a:p>
            </p:txBody>
          </p:sp>
        </p:grpSp>
        <p:sp>
          <p:nvSpPr>
            <p:cNvPr id="8" name="Rounded Rectangle 7"/>
            <p:cNvSpPr/>
            <p:nvPr/>
          </p:nvSpPr>
          <p:spPr>
            <a:xfrm>
              <a:off x="533400" y="1257300"/>
              <a:ext cx="5448300" cy="3771900"/>
            </a:xfrm>
            <a:prstGeom prst="roundRect">
              <a:avLst>
                <a:gd name="adj" fmla="val 4040"/>
              </a:avLst>
            </a:prstGeom>
            <a:solidFill>
              <a:srgbClr val="EA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6280" y="1432560"/>
              <a:ext cx="5082540" cy="419100"/>
            </a:xfrm>
            <a:prstGeom prst="rect">
              <a:avLst/>
            </a:prstGeom>
            <a:noFill/>
          </p:spPr>
          <p:txBody>
            <a:bodyPr wrap="none" lIns="0" rIns="0" tIns="0" bIns="0" anchor="t">
              <a:spAutoFit/>
            </a:bodyPr>
            <a:lstStyle/>
            <a:p>
              <a:pPr algn="l">
                <a:lnSpc>
                  <a:spcPts val="2380"/>
                </a:lnSpc>
                <a:spcBef>
                  <a:spcPts val="0"/>
                </a:spcBef>
                <a:spcAft>
                  <a:spcPts val="0"/>
                </a:spcAft>
              </a:pPr>
              <a:r>
                <a:rPr sz="1859" b="1">
                  <a:solidFill>
                    <a:srgbClr val="2377C5"/>
                  </a:solidFill>
                  <a:latin typeface="Yu Gothic"/>
                  <a:ea typeface="Yu Gothic"/>
                </a:rPr>
                <a:t>① 入出力の関係：力を推定する</a:t>
              </a:r>
            </a:p>
          </p:txBody>
        </p:sp>
        <p:sp>
          <p:nvSpPr>
            <p:cNvPr id="10" name="Rounded Rectangle 9"/>
            <p:cNvSpPr/>
            <p:nvPr/>
          </p:nvSpPr>
          <p:spPr>
            <a:xfrm>
              <a:off x="6210300" y="1257300"/>
              <a:ext cx="5448300" cy="3771900"/>
            </a:xfrm>
            <a:prstGeom prst="roundRect">
              <a:avLst>
                <a:gd name="adj" fmla="val 4040"/>
              </a:avLst>
            </a:prstGeom>
            <a:solidFill>
              <a:srgbClr val="FC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180" y="1432560"/>
              <a:ext cx="5082540" cy="419100"/>
            </a:xfrm>
            <a:prstGeom prst="rect">
              <a:avLst/>
            </a:prstGeom>
            <a:noFill/>
          </p:spPr>
          <p:txBody>
            <a:bodyPr wrap="none" lIns="0" rIns="0" tIns="0" bIns="0" anchor="t">
              <a:spAutoFit/>
            </a:bodyPr>
            <a:lstStyle/>
            <a:p>
              <a:pPr algn="l">
                <a:lnSpc>
                  <a:spcPts val="2380"/>
                </a:lnSpc>
                <a:spcBef>
                  <a:spcPts val="0"/>
                </a:spcBef>
                <a:spcAft>
                  <a:spcPts val="0"/>
                </a:spcAft>
              </a:pPr>
              <a:r>
                <a:rPr sz="1859" b="1">
                  <a:solidFill>
                    <a:srgbClr val="D86B35"/>
                  </a:solidFill>
                  <a:latin typeface="Yu Gothic"/>
                  <a:ea typeface="Yu Gothic"/>
                </a:rPr>
                <a:t>② 原理：磁場変化を説明する</a:t>
              </a:r>
            </a:p>
          </p:txBody>
        </p:sp>
        <p:grpSp>
          <p:nvGrpSpPr>
            <p:cNvPr id="12" name="H-PME：力と磁場の対応"/>
            <p:cNvGrpSpPr/>
            <p:nvPr/>
          </p:nvGrpSpPr>
          <p:grpSpPr>
            <a:xfrm>
              <a:off x="762000" y="2026920"/>
              <a:ext cx="4991100" cy="2887980"/>
              <a:chOff x="762000" y="2026920"/>
              <a:chExt cx="4991100" cy="2887980"/>
            </a:xfrm>
          </p:grpSpPr>
          <p:sp>
            <p:nvSpPr>
              <p:cNvPr id="13" name="TextBox 12"/>
              <p:cNvSpPr txBox="1"/>
              <p:nvPr/>
            </p:nvSpPr>
            <p:spPr>
              <a:xfrm>
                <a:off x="762000" y="2026920"/>
                <a:ext cx="4991100" cy="304800"/>
              </a:xfrm>
              <a:prstGeom prst="rect">
                <a:avLst/>
              </a:prstGeom>
              <a:noFill/>
            </p:spPr>
            <p:txBody>
              <a:bodyPr wrap="none" lIns="0" rIns="0" tIns="0" bIns="0" anchor="t">
                <a:spAutoFit/>
              </a:bodyPr>
              <a:lstStyle/>
              <a:p>
                <a:pPr algn="l">
                  <a:lnSpc>
                    <a:spcPts val="2227"/>
                  </a:lnSpc>
                  <a:spcBef>
                    <a:spcPts val="0"/>
                  </a:spcBef>
                  <a:spcAft>
                    <a:spcPts val="0"/>
                  </a:spcAft>
                </a:pPr>
                <a:r>
                  <a:rPr sz="1739" b="1">
                    <a:solidFill>
                      <a:srgbClr val="121212"/>
                    </a:solidFill>
                    <a:latin typeface="Yu Gothic"/>
                    <a:ea typeface="Yu Gothic"/>
                  </a:rPr>
                  <a:t>H-PMEを用いた接触力センサ［1］</a:t>
                </a:r>
              </a:p>
            </p:txBody>
          </p:sp>
          <p:sp>
            <p:nvSpPr>
              <p:cNvPr id="14" name="Rounded Rectangle 13"/>
              <p:cNvSpPr/>
              <p:nvPr/>
            </p:nvSpPr>
            <p:spPr>
              <a:xfrm>
                <a:off x="876300" y="2575560"/>
                <a:ext cx="160020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7740" y="2720340"/>
                <a:ext cx="1417320" cy="320040"/>
              </a:xfrm>
              <a:prstGeom prst="rect">
                <a:avLst/>
              </a:prstGeom>
              <a:noFill/>
            </p:spPr>
            <p:txBody>
              <a:bodyPr wrap="none" lIns="0" rIns="0" tIns="0" bIns="0" anchor="t">
                <a:spAutoFit/>
              </a:bodyPr>
              <a:lstStyle/>
              <a:p>
                <a:pPr algn="ctr">
                  <a:lnSpc>
                    <a:spcPts val="1996"/>
                  </a:lnSpc>
                  <a:spcBef>
                    <a:spcPts val="0"/>
                  </a:spcBef>
                  <a:spcAft>
                    <a:spcPts val="0"/>
                  </a:spcAft>
                </a:pPr>
                <a:r>
                  <a:rPr sz="1560" b="1">
                    <a:solidFill>
                      <a:srgbClr val="2377C5"/>
                    </a:solidFill>
                    <a:latin typeface="Yu Gothic"/>
                    <a:ea typeface="Yu Gothic"/>
                  </a:rPr>
                  <a:t>三軸の接触力</a:t>
                </a:r>
              </a:p>
            </p:txBody>
          </p:sp>
          <p:sp>
            <p:nvSpPr>
              <p:cNvPr id="16" name="Freeform 15"/>
              <p:cNvSpPr/>
              <p:nvPr/>
            </p:nvSpPr>
            <p:spPr>
              <a:xfrm>
                <a:off x="2621280" y="2872740"/>
                <a:ext cx="480060" cy="0"/>
              </a:xfrm>
              <a:custGeom>
                <a:avLst/>
                <a:gdLst/>
                <a:ahLst/>
                <a:cxnLst/>
                <a:rect l="l" t="t" r="r" b="b"/>
                <a:pathLst>
                  <a:path w="63" h="0">
                    <a:moveTo>
                      <a:pt x="0" y="0"/>
                    </a:moveTo>
                    <a:lnTo>
                      <a:pt x="63" y="0"/>
                    </a:lnTo>
                  </a:path>
                </a:pathLst>
              </a:custGeom>
              <a:noFill/>
              <a:ln w="30480">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02280" y="2819400"/>
                <a:ext cx="99060" cy="106680"/>
              </a:xfrm>
              <a:custGeom>
                <a:avLst/>
                <a:gdLst/>
                <a:ahLst/>
                <a:cxnLst/>
                <a:rect l="l" t="t" r="r" b="b"/>
                <a:pathLst>
                  <a:path w="13" h="14">
                    <a:moveTo>
                      <a:pt x="13" y="7"/>
                    </a:moveTo>
                    <a:lnTo>
                      <a:pt x="0" y="0"/>
                    </a:lnTo>
                    <a:lnTo>
                      <a:pt x="0" y="14"/>
                    </a:lnTo>
                    <a:close/>
                  </a:path>
                </a:pathLst>
              </a:cu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76600" y="2575560"/>
                <a:ext cx="2133600" cy="594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98520" y="2720340"/>
                <a:ext cx="1889760" cy="320040"/>
              </a:xfrm>
              <a:prstGeom prst="rect">
                <a:avLst/>
              </a:prstGeom>
              <a:noFill/>
            </p:spPr>
            <p:txBody>
              <a:bodyPr wrap="none" lIns="0" rIns="0" tIns="0" bIns="0" anchor="t">
                <a:spAutoFit/>
              </a:bodyPr>
              <a:lstStyle/>
              <a:p>
                <a:pPr algn="ctr">
                  <a:lnSpc>
                    <a:spcPts val="1996"/>
                  </a:lnSpc>
                  <a:spcBef>
                    <a:spcPts val="0"/>
                  </a:spcBef>
                  <a:spcAft>
                    <a:spcPts val="0"/>
                  </a:spcAft>
                </a:pPr>
                <a:r>
                  <a:rPr sz="1560" b="1">
                    <a:solidFill>
                      <a:srgbClr val="2377C5"/>
                    </a:solidFill>
                    <a:latin typeface="Yu Gothic"/>
                    <a:ea typeface="Yu Gothic"/>
                  </a:rPr>
                  <a:t>センサの磁場分布</a:t>
                </a:r>
              </a:p>
            </p:txBody>
          </p:sp>
          <p:sp>
            <p:nvSpPr>
              <p:cNvPr id="20" name="Freeform 19"/>
              <p:cNvSpPr/>
              <p:nvPr/>
            </p:nvSpPr>
            <p:spPr>
              <a:xfrm>
                <a:off x="1333500" y="3429000"/>
                <a:ext cx="3680460" cy="0"/>
              </a:xfrm>
              <a:custGeom>
                <a:avLst/>
                <a:gdLst/>
                <a:ahLst/>
                <a:cxnLst/>
                <a:rect l="l" t="t" r="r" b="b"/>
                <a:pathLst>
                  <a:path w="483" h="0">
                    <a:moveTo>
                      <a:pt x="483" y="0"/>
                    </a:moveTo>
                    <a:lnTo>
                      <a:pt x="0" y="0"/>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333500" y="3375660"/>
                <a:ext cx="99060" cy="106680"/>
              </a:xfrm>
              <a:custGeom>
                <a:avLst/>
                <a:gdLst/>
                <a:ahLst/>
                <a:cxnLst/>
                <a:rect l="l" t="t" r="r" b="b"/>
                <a:pathLst>
                  <a:path w="13" h="14">
                    <a:moveTo>
                      <a:pt x="0" y="7"/>
                    </a:moveTo>
                    <a:lnTo>
                      <a:pt x="13" y="14"/>
                    </a:lnTo>
                    <a:lnTo>
                      <a:pt x="13" y="0"/>
                    </a:lnTo>
                    <a:close/>
                  </a:path>
                </a:pathLst>
              </a:cu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3543300"/>
                <a:ext cx="4038600" cy="342900"/>
              </a:xfrm>
              <a:prstGeom prst="rect">
                <a:avLst/>
              </a:prstGeom>
              <a:noFill/>
            </p:spPr>
            <p:txBody>
              <a:bodyPr wrap="none" lIns="0" rIns="0" tIns="0" bIns="0" anchor="t">
                <a:spAutoFit/>
              </a:bodyPr>
              <a:lstStyle/>
              <a:p>
                <a:pPr algn="ctr">
                  <a:lnSpc>
                    <a:spcPts val="1843"/>
                  </a:lnSpc>
                  <a:spcBef>
                    <a:spcPts val="0"/>
                  </a:spcBef>
                  <a:spcAft>
                    <a:spcPts val="0"/>
                  </a:spcAft>
                </a:pPr>
                <a:r>
                  <a:rPr sz="1439" b="1">
                    <a:solidFill>
                      <a:srgbClr val="121212"/>
                    </a:solidFill>
                    <a:latin typeface="Yu Gothic"/>
                    <a:ea typeface="Yu Gothic"/>
                  </a:rPr>
                  <a:t>線形モデルを用いて、磁場から力を推定</a:t>
                </a:r>
              </a:p>
            </p:txBody>
          </p:sp>
          <p:sp>
            <p:nvSpPr>
              <p:cNvPr id="23" name="TextBox 22"/>
              <p:cNvSpPr txBox="1"/>
              <p:nvPr/>
            </p:nvSpPr>
            <p:spPr>
              <a:xfrm>
                <a:off x="876300" y="4114800"/>
                <a:ext cx="4724400" cy="472440"/>
              </a:xfrm>
              <a:prstGeom prst="rect">
                <a:avLst/>
              </a:prstGeom>
              <a:noFill/>
            </p:spPr>
            <p:txBody>
              <a:bodyPr wrap="none" lIns="0" rIns="0" tIns="0" bIns="0" anchor="t">
                <a:spAutoFit/>
              </a:bodyPr>
              <a:lstStyle/>
              <a:p>
                <a:pPr algn="ctr">
                  <a:lnSpc>
                    <a:spcPts val="3379"/>
                  </a:lnSpc>
                  <a:spcBef>
                    <a:spcPts val="0"/>
                  </a:spcBef>
                  <a:spcAft>
                    <a:spcPts val="0"/>
                  </a:spcAft>
                </a:pPr>
                <a:r>
                  <a:rPr sz="2640" b="1">
                    <a:solidFill>
                      <a:srgbClr val="2377C5"/>
                    </a:solidFill>
                    <a:latin typeface="Yu Gothic"/>
                    <a:ea typeface="Yu Gothic"/>
                  </a:rPr>
                  <a:t>RMSE &lt; 0.7 N</a:t>
                </a:r>
              </a:p>
            </p:txBody>
          </p:sp>
          <p:sp>
            <p:nvSpPr>
              <p:cNvPr id="24" name="TextBox 23"/>
              <p:cNvSpPr txBox="1"/>
              <p:nvPr/>
            </p:nvSpPr>
            <p:spPr>
              <a:xfrm>
                <a:off x="876300" y="4632960"/>
                <a:ext cx="4724400" cy="281940"/>
              </a:xfrm>
              <a:prstGeom prst="rect">
                <a:avLst/>
              </a:prstGeom>
              <a:noFill/>
            </p:spPr>
            <p:txBody>
              <a:bodyPr wrap="none" lIns="0" rIns="0" tIns="0" bIns="0" anchor="t">
                <a:spAutoFit/>
              </a:bodyPr>
              <a:lstStyle/>
              <a:p>
                <a:pPr algn="ctr">
                  <a:lnSpc>
                    <a:spcPts val="1920"/>
                  </a:lnSpc>
                  <a:spcBef>
                    <a:spcPts val="0"/>
                  </a:spcBef>
                  <a:spcAft>
                    <a:spcPts val="0"/>
                  </a:spcAft>
                </a:pPr>
                <a:r>
                  <a:rPr sz="1500" b="1">
                    <a:solidFill>
                      <a:srgbClr val="2377C5"/>
                    </a:solidFill>
                    <a:latin typeface="Yu Gothic"/>
                    <a:ea typeface="Yu Gothic"/>
                  </a:rPr>
                  <a:t>入力と出力の対応を、推定に利用</a:t>
                </a:r>
              </a:p>
            </p:txBody>
          </p:sp>
        </p:grpSp>
        <p:grpSp>
          <p:nvGrpSpPr>
            <p:cNvPr id="25" name="PMFUE：圧縮と内部粒子の挙動"/>
            <p:cNvGrpSpPr/>
            <p:nvPr/>
          </p:nvGrpSpPr>
          <p:grpSpPr>
            <a:xfrm>
              <a:off x="6423660" y="2026920"/>
              <a:ext cx="5013960" cy="2887980"/>
              <a:chOff x="6423660" y="2026920"/>
              <a:chExt cx="5013960" cy="2887980"/>
            </a:xfrm>
          </p:grpSpPr>
          <p:sp>
            <p:nvSpPr>
              <p:cNvPr id="26" name="TextBox 25"/>
              <p:cNvSpPr txBox="1"/>
              <p:nvPr/>
            </p:nvSpPr>
            <p:spPr>
              <a:xfrm>
                <a:off x="6423660" y="2026920"/>
                <a:ext cx="5013960" cy="563880"/>
              </a:xfrm>
              <a:prstGeom prst="rect">
                <a:avLst/>
              </a:prstGeom>
              <a:noFill/>
            </p:spPr>
            <p:txBody>
              <a:bodyPr wrap="none" lIns="0" rIns="0" tIns="0" bIns="0" anchor="t">
                <a:spAutoFit/>
              </a:bodyPr>
              <a:lstStyle/>
              <a:p>
                <a:pPr algn="l">
                  <a:lnSpc>
                    <a:spcPts val="2073"/>
                  </a:lnSpc>
                  <a:spcBef>
                    <a:spcPts val="0"/>
                  </a:spcBef>
                  <a:spcAft>
                    <a:spcPts val="0"/>
                  </a:spcAft>
                </a:pPr>
                <a:r>
                  <a:rPr sz="1620" b="1">
                    <a:solidFill>
                      <a:srgbClr val="121212"/>
                    </a:solidFill>
                    <a:latin typeface="Yu Gothic"/>
                    <a:ea typeface="Yu Gothic"/>
                  </a:rPr>
                  <a:t>永久磁石発泡ウレタンエラストマーの</a:t>
                </a:r>
              </a:p>
              <a:p>
                <a:pPr algn="l">
                  <a:lnSpc>
                    <a:spcPts val="2073"/>
                  </a:lnSpc>
                  <a:spcBef>
                    <a:spcPts val="0"/>
                  </a:spcBef>
                  <a:spcAft>
                    <a:spcPts val="0"/>
                  </a:spcAft>
                </a:pPr>
                <a:r>
                  <a:rPr sz="1620" b="1">
                    <a:solidFill>
                      <a:srgbClr val="121212"/>
                    </a:solidFill>
                    <a:latin typeface="Yu Gothic"/>
                    <a:ea typeface="Yu Gothic"/>
                  </a:rPr>
                  <a:t>一様圧縮モデル［2］</a:t>
                </a:r>
              </a:p>
            </p:txBody>
          </p:sp>
          <p:sp>
            <p:nvSpPr>
              <p:cNvPr id="27" name="Rounded Rectangle 26"/>
              <p:cNvSpPr/>
              <p:nvPr/>
            </p:nvSpPr>
            <p:spPr>
              <a:xfrm>
                <a:off x="6583680" y="2895600"/>
                <a:ext cx="1051560" cy="998220"/>
              </a:xfrm>
              <a:prstGeom prst="roundRect">
                <a:avLst>
                  <a:gd name="adj" fmla="val 1145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77990" y="3046628"/>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797040" y="3116580"/>
                <a:ext cx="213360" cy="0"/>
              </a:xfrm>
              <a:custGeom>
                <a:avLst/>
                <a:gdLst/>
                <a:ahLst/>
                <a:cxnLst/>
                <a:rect l="l" t="t" r="r" b="b"/>
                <a:pathLst>
                  <a:path w="28" h="0">
                    <a:moveTo>
                      <a:pt x="0" y="0"/>
                    </a:moveTo>
                    <a:lnTo>
                      <a:pt x="28"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949440" y="308610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272223" y="3166415"/>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292340" y="3238500"/>
                <a:ext cx="205740" cy="0"/>
              </a:xfrm>
              <a:custGeom>
                <a:avLst/>
                <a:gdLst/>
                <a:ahLst/>
                <a:cxnLst/>
                <a:rect l="l" t="t" r="r" b="b"/>
                <a:pathLst>
                  <a:path w="27" h="0">
                    <a:moveTo>
                      <a:pt x="0" y="0"/>
                    </a:moveTo>
                    <a:lnTo>
                      <a:pt x="27"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437120" y="3200400"/>
                <a:ext cx="60960" cy="68580"/>
              </a:xfrm>
              <a:custGeom>
                <a:avLst/>
                <a:gdLst/>
                <a:ahLst/>
                <a:cxnLst/>
                <a:rect l="l" t="t" r="r" b="b"/>
                <a:pathLst>
                  <a:path w="8" h="9">
                    <a:moveTo>
                      <a:pt x="8" y="5"/>
                    </a:moveTo>
                    <a:lnTo>
                      <a:pt x="0" y="0"/>
                    </a:lnTo>
                    <a:lnTo>
                      <a:pt x="0" y="9"/>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30568" y="3545738"/>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850380" y="3611880"/>
                <a:ext cx="205740" cy="0"/>
              </a:xfrm>
              <a:custGeom>
                <a:avLst/>
                <a:gdLst/>
                <a:ahLst/>
                <a:cxnLst/>
                <a:rect l="l" t="t" r="r" b="b"/>
                <a:pathLst>
                  <a:path w="27" h="0">
                    <a:moveTo>
                      <a:pt x="0" y="0"/>
                    </a:moveTo>
                    <a:lnTo>
                      <a:pt x="27"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6995160" y="358140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26680" y="3406140"/>
                <a:ext cx="365760" cy="0"/>
              </a:xfrm>
              <a:custGeom>
                <a:avLst/>
                <a:gdLst/>
                <a:ahLst/>
                <a:cxnLst/>
                <a:rect l="l" t="t" r="r" b="b"/>
                <a:pathLst>
                  <a:path w="48" h="0">
                    <a:moveTo>
                      <a:pt x="0" y="0"/>
                    </a:moveTo>
                    <a:lnTo>
                      <a:pt x="48"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7993380" y="3352800"/>
                <a:ext cx="99060" cy="106680"/>
              </a:xfrm>
              <a:custGeom>
                <a:avLst/>
                <a:gdLst/>
                <a:ahLst/>
                <a:cxnLst/>
                <a:rect l="l" t="t" r="r" b="b"/>
                <a:pathLst>
                  <a:path w="13" h="14">
                    <a:moveTo>
                      <a:pt x="13" y="7"/>
                    </a:moveTo>
                    <a:lnTo>
                      <a:pt x="0" y="0"/>
                    </a:lnTo>
                    <a:lnTo>
                      <a:pt x="0" y="14"/>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67700" y="3108960"/>
                <a:ext cx="1264920" cy="624840"/>
              </a:xfrm>
              <a:prstGeom prst="roundRect">
                <a:avLst>
                  <a:gd name="adj" fmla="val 1200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77402" y="3196590"/>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8503920" y="3200400"/>
                <a:ext cx="190500" cy="83820"/>
              </a:xfrm>
              <a:custGeom>
                <a:avLst/>
                <a:gdLst/>
                <a:ahLst/>
                <a:cxnLst/>
                <a:rect l="l" t="t" r="r" b="b"/>
                <a:pathLst>
                  <a:path w="25" h="11">
                    <a:moveTo>
                      <a:pt x="0" y="11"/>
                    </a:moveTo>
                    <a:lnTo>
                      <a:pt x="25"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625840" y="3200400"/>
                <a:ext cx="68580" cy="53340"/>
              </a:xfrm>
              <a:custGeom>
                <a:avLst/>
                <a:gdLst/>
                <a:ahLst/>
                <a:cxnLst/>
                <a:rect l="l" t="t" r="r" b="b"/>
                <a:pathLst>
                  <a:path w="9" h="7">
                    <a:moveTo>
                      <a:pt x="9" y="0"/>
                    </a:moveTo>
                    <a:lnTo>
                      <a:pt x="0" y="0"/>
                    </a:lnTo>
                    <a:lnTo>
                      <a:pt x="3" y="7"/>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173108" y="3227832"/>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9197340" y="3276600"/>
                <a:ext cx="190500" cy="91440"/>
              </a:xfrm>
              <a:custGeom>
                <a:avLst/>
                <a:gdLst/>
                <a:ahLst/>
                <a:cxnLst/>
                <a:rect l="l" t="t" r="r" b="b"/>
                <a:pathLst>
                  <a:path w="25" h="12">
                    <a:moveTo>
                      <a:pt x="0" y="0"/>
                    </a:moveTo>
                    <a:lnTo>
                      <a:pt x="25" y="12"/>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9319260" y="3314700"/>
                <a:ext cx="68580" cy="53340"/>
              </a:xfrm>
              <a:custGeom>
                <a:avLst/>
                <a:gdLst/>
                <a:ahLst/>
                <a:cxnLst/>
                <a:rect l="l" t="t" r="r" b="b"/>
                <a:pathLst>
                  <a:path w="9" h="7">
                    <a:moveTo>
                      <a:pt x="9" y="7"/>
                    </a:moveTo>
                    <a:lnTo>
                      <a:pt x="3" y="0"/>
                    </a:lnTo>
                    <a:lnTo>
                      <a:pt x="0" y="7"/>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692439" y="3509010"/>
                <a:ext cx="137160" cy="1371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717280" y="3543300"/>
                <a:ext cx="198120" cy="45720"/>
              </a:xfrm>
              <a:custGeom>
                <a:avLst/>
                <a:gdLst/>
                <a:ahLst/>
                <a:cxnLst/>
                <a:rect l="l" t="t" r="r" b="b"/>
                <a:pathLst>
                  <a:path w="26" h="6">
                    <a:moveTo>
                      <a:pt x="0" y="6"/>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854440" y="3528060"/>
                <a:ext cx="60960" cy="60960"/>
              </a:xfrm>
              <a:custGeom>
                <a:avLst/>
                <a:gdLst/>
                <a:ahLst/>
                <a:cxnLst/>
                <a:rect l="l" t="t" r="r" b="b"/>
                <a:pathLst>
                  <a:path w="8" h="8">
                    <a:moveTo>
                      <a:pt x="8" y="2"/>
                    </a:moveTo>
                    <a:lnTo>
                      <a:pt x="0" y="0"/>
                    </a:lnTo>
                    <a:lnTo>
                      <a:pt x="1"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519160" y="2834640"/>
                <a:ext cx="0" cy="205740"/>
              </a:xfrm>
              <a:custGeom>
                <a:avLst/>
                <a:gdLst/>
                <a:ahLst/>
                <a:cxnLst/>
                <a:rect l="l" t="t" r="r" b="b"/>
                <a:pathLst>
                  <a:path w="0" h="27">
                    <a:moveTo>
                      <a:pt x="0" y="0"/>
                    </a:moveTo>
                    <a:lnTo>
                      <a:pt x="0" y="27"/>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8481060" y="2971800"/>
                <a:ext cx="76200" cy="68580"/>
              </a:xfrm>
              <a:custGeom>
                <a:avLst/>
                <a:gdLst/>
                <a:ahLst/>
                <a:cxnLst/>
                <a:rect l="l" t="t" r="r" b="b"/>
                <a:pathLst>
                  <a:path w="10" h="9">
                    <a:moveTo>
                      <a:pt x="5" y="9"/>
                    </a:moveTo>
                    <a:lnTo>
                      <a:pt x="10" y="0"/>
                    </a:lnTo>
                    <a:lnTo>
                      <a:pt x="0" y="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9212580" y="2834640"/>
                <a:ext cx="0" cy="205740"/>
              </a:xfrm>
              <a:custGeom>
                <a:avLst/>
                <a:gdLst/>
                <a:ahLst/>
                <a:cxnLst/>
                <a:rect l="l" t="t" r="r" b="b"/>
                <a:pathLst>
                  <a:path w="0" h="27">
                    <a:moveTo>
                      <a:pt x="0" y="0"/>
                    </a:moveTo>
                    <a:lnTo>
                      <a:pt x="0" y="27"/>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9174480" y="2971800"/>
                <a:ext cx="76200" cy="68580"/>
              </a:xfrm>
              <a:custGeom>
                <a:avLst/>
                <a:gdLst/>
                <a:ahLst/>
                <a:cxnLst/>
                <a:rect l="l" t="t" r="r" b="b"/>
                <a:pathLst>
                  <a:path w="10" h="9">
                    <a:moveTo>
                      <a:pt x="5" y="9"/>
                    </a:moveTo>
                    <a:lnTo>
                      <a:pt x="10" y="0"/>
                    </a:lnTo>
                    <a:lnTo>
                      <a:pt x="0" y="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2956560"/>
                <a:ext cx="1546860" cy="647700"/>
              </a:xfrm>
              <a:prstGeom prst="rect">
                <a:avLst/>
              </a:prstGeom>
              <a:noFill/>
            </p:spPr>
            <p:txBody>
              <a:bodyPr wrap="none" lIns="0" rIns="0" tIns="0" bIns="0" anchor="t">
                <a:spAutoFit/>
              </a:bodyPr>
              <a:lstStyle/>
              <a:p>
                <a:pPr algn="ctr">
                  <a:lnSpc>
                    <a:spcPts val="1920"/>
                  </a:lnSpc>
                  <a:spcBef>
                    <a:spcPts val="0"/>
                  </a:spcBef>
                  <a:spcAft>
                    <a:spcPts val="0"/>
                  </a:spcAft>
                </a:pPr>
                <a:r>
                  <a:rPr sz="1500" b="1">
                    <a:solidFill>
                      <a:srgbClr val="D86B35"/>
                    </a:solidFill>
                    <a:latin typeface="Yu Gothic"/>
                    <a:ea typeface="Yu Gothic"/>
                  </a:rPr>
                  <a:t>並進＋回転を</a:t>
                </a:r>
              </a:p>
              <a:p>
                <a:pPr algn="ctr">
                  <a:lnSpc>
                    <a:spcPts val="1920"/>
                  </a:lnSpc>
                  <a:spcBef>
                    <a:spcPts val="0"/>
                  </a:spcBef>
                  <a:spcAft>
                    <a:spcPts val="0"/>
                  </a:spcAft>
                </a:pPr>
                <a:r>
                  <a:rPr sz="1500" b="1">
                    <a:solidFill>
                      <a:srgbClr val="D86B35"/>
                    </a:solidFill>
                    <a:latin typeface="Yu Gothic"/>
                    <a:ea typeface="Yu Gothic"/>
                  </a:rPr>
                  <a:t>考慮</a:t>
                </a:r>
              </a:p>
            </p:txBody>
          </p:sp>
          <p:sp>
            <p:nvSpPr>
              <p:cNvPr id="54" name="TextBox 53"/>
              <p:cNvSpPr txBox="1"/>
              <p:nvPr/>
            </p:nvSpPr>
            <p:spPr>
              <a:xfrm>
                <a:off x="6530340" y="4114800"/>
                <a:ext cx="4808220" cy="47244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D86B35"/>
                    </a:solidFill>
                    <a:latin typeface="Yu Gothic"/>
                    <a:ea typeface="Yu Gothic"/>
                  </a:rPr>
                  <a:t>内部粒子の挙動を磁場計算に組み込む</a:t>
                </a:r>
              </a:p>
            </p:txBody>
          </p:sp>
          <p:sp>
            <p:nvSpPr>
              <p:cNvPr id="55" name="TextBox 54"/>
              <p:cNvSpPr txBox="1"/>
              <p:nvPr/>
            </p:nvSpPr>
            <p:spPr>
              <a:xfrm>
                <a:off x="6530340" y="4632960"/>
                <a:ext cx="4808220" cy="281940"/>
              </a:xfrm>
              <a:prstGeom prst="rect">
                <a:avLst/>
              </a:prstGeom>
              <a:noFill/>
            </p:spPr>
            <p:txBody>
              <a:bodyPr wrap="none" lIns="0" rIns="0" tIns="0" bIns="0" anchor="t">
                <a:spAutoFit/>
              </a:bodyPr>
              <a:lstStyle/>
              <a:p>
                <a:pPr algn="ctr">
                  <a:lnSpc>
                    <a:spcPts val="1920"/>
                  </a:lnSpc>
                  <a:spcBef>
                    <a:spcPts val="0"/>
                  </a:spcBef>
                  <a:spcAft>
                    <a:spcPts val="0"/>
                  </a:spcAft>
                </a:pPr>
                <a:r>
                  <a:rPr sz="1500" b="1">
                    <a:solidFill>
                      <a:srgbClr val="D86B35"/>
                    </a:solidFill>
                    <a:latin typeface="Yu Gothic"/>
                    <a:ea typeface="Yu Gothic"/>
                  </a:rPr>
                  <a:t>変形時の磁場変化を、モデルで説明</a:t>
                </a:r>
              </a:p>
            </p:txBody>
          </p:sp>
        </p:grpSp>
        <p:grpSp>
          <p:nvGrpSpPr>
            <p:cNvPr id="56" name="本研究への接続"/>
            <p:cNvGrpSpPr/>
            <p:nvPr/>
          </p:nvGrpSpPr>
          <p:grpSpPr>
            <a:xfrm>
              <a:off x="533400" y="5212080"/>
              <a:ext cx="11163300" cy="1143000"/>
              <a:chOff x="533400" y="5212080"/>
              <a:chExt cx="11163300" cy="1143000"/>
            </a:xfrm>
          </p:grpSpPr>
          <p:sp>
            <p:nvSpPr>
              <p:cNvPr id="57" name="Rounded Rectangle 56"/>
              <p:cNvSpPr/>
              <p:nvPr/>
            </p:nvSpPr>
            <p:spPr>
              <a:xfrm>
                <a:off x="533400" y="5212080"/>
                <a:ext cx="11125200" cy="6019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8180" y="5372100"/>
                <a:ext cx="10835640" cy="365760"/>
              </a:xfrm>
              <a:prstGeom prst="rect">
                <a:avLst/>
              </a:prstGeom>
              <a:noFill/>
            </p:spPr>
            <p:txBody>
              <a:bodyPr wrap="none" lIns="0" rIns="0" tIns="0" bIns="0" anchor="t">
                <a:spAutoFit/>
              </a:bodyPr>
              <a:lstStyle/>
              <a:p>
                <a:pPr algn="ctr">
                  <a:lnSpc>
                    <a:spcPts val="2457"/>
                  </a:lnSpc>
                  <a:spcBef>
                    <a:spcPts val="0"/>
                  </a:spcBef>
                  <a:spcAft>
                    <a:spcPts val="0"/>
                  </a:spcAft>
                </a:pPr>
                <a:r>
                  <a:rPr sz="1920" b="1">
                    <a:solidFill>
                      <a:srgbClr val="007F86"/>
                    </a:solidFill>
                    <a:latin typeface="Yu Gothic"/>
                    <a:ea typeface="Yu Gothic"/>
                  </a:rPr>
                  <a:t>本研究では、曲げ変位と磁場の対応関係・変化要因を明らかにする</a:t>
                </a:r>
              </a:p>
            </p:txBody>
          </p:sp>
          <p:sp>
            <p:nvSpPr>
              <p:cNvPr id="59" name="TextBox 58"/>
              <p:cNvSpPr txBox="1"/>
              <p:nvPr/>
            </p:nvSpPr>
            <p:spPr>
              <a:xfrm>
                <a:off x="571500" y="5951220"/>
                <a:ext cx="11125200" cy="21336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Yu Gothic"/>
                    <a:ea typeface="Yu Gothic"/>
                  </a:rPr>
                  <a:t>［1］Qichen Wang et al., H-PME: Development of a Robot Skin Using Halbach Array Permanent Magnet Elastomer,</a:t>
                </a:r>
              </a:p>
            </p:txBody>
          </p:sp>
          <p:sp>
            <p:nvSpPr>
              <p:cNvPr id="60" name="TextBox 59"/>
              <p:cNvSpPr txBox="1"/>
              <p:nvPr/>
            </p:nvSpPr>
            <p:spPr>
              <a:xfrm>
                <a:off x="883920" y="6149340"/>
                <a:ext cx="10782300" cy="205740"/>
              </a:xfrm>
              <a:prstGeom prst="rect">
                <a:avLst/>
              </a:prstGeom>
              <a:noFill/>
            </p:spPr>
            <p:txBody>
              <a:bodyPr wrap="none" lIns="0" rIns="0" tIns="0" bIns="0" anchor="t">
                <a:spAutoFit/>
              </a:bodyPr>
              <a:lstStyle/>
              <a:p>
                <a:pPr algn="l">
                  <a:lnSpc>
                    <a:spcPts val="1228"/>
                  </a:lnSpc>
                  <a:spcBef>
                    <a:spcPts val="0"/>
                  </a:spcBef>
                  <a:spcAft>
                    <a:spcPts val="0"/>
                  </a:spcAft>
                </a:pPr>
                <a:r>
                  <a:rPr sz="960" b="0">
                    <a:solidFill>
                      <a:srgbClr val="617689"/>
                    </a:solidFill>
                    <a:latin typeface="Yu Gothic"/>
                    <a:ea typeface="Yu Gothic"/>
                  </a:rPr>
                  <a:t>Advanced Intelligent Systems, 7(2), 2025.　［2］大江岳歩，「永久磁石発泡ウレタンエラストマーの圧縮による磁場変化」，修士論文，2025.</a:t>
                </a: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センサ設計に必要な入出力関係とセンシング原理の理解</dc:title>
  <dc:subject/>
  <dc:creator>大橋 怜倭</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