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図は、ソフトロボットの外受容感覚を、物体との接触状態を捉える触覚センサを例に説明する概念図です。全てPowerPointのフリーフォーム図形・角丸四角形・円・線・矢印・テキストボックスから構成されています。画像は含まれていません。</a:t>
            </a:r>
          </a:p>
          <a:p/>
          <a:p>
            <a:r>
              <a:t>触覚センサは外受容センサの一例です。外受容感覚には視覚や距離検出なども含まれますが、本図は触覚に絞っています。実際に検出できる量（接触、法線力、接線力や滑り）は、採用するセンサの方式・配置・信号処理によって異なります。特定の製品やPMEセンサが全てを検出できると主張する図ではありません。</a:t>
            </a:r>
          </a:p>
          <a:p/>
          <a:p>
            <a:r>
              <a:t>編集方法：グループ内の文字はダブルクリックして編集できます。色や配置を変えるときは、対象のグループを右クリックして［グループ化］→［グループ解除］を選択してください。自由曲線の輪郭は［頂点の編集］でも変更できます。図全体は一つのグループになっているため、選択してコピーし、発表スライドへ貼り付けできます。編集を保つには画像として貼り付けず、通常の貼り付けを使ってください。</a:t>
            </a:r>
          </a:p>
          <a:p/>
          <a:p>
            <a:r>
              <a:t>指定フォントはYu Gothic（游ゴシック）です。確認用PDFは同じ配置をもとに別途作成した画像ベースのプレビューであり、Microsoft PowerPointによる描画確認は行っていません。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外受容感覚の図：全体（グループ解除して編集可能）"/>
          <p:cNvGrpSpPr/>
          <p:nvPr/>
        </p:nvGrpSpPr>
        <p:grpSpPr>
          <a:xfrm>
            <a:off x="533400" y="396240"/>
            <a:ext cx="11125200" cy="6179820"/>
            <a:chOff x="533400" y="396240"/>
            <a:chExt cx="11125200" cy="6179820"/>
          </a:xfrm>
        </p:grpSpPr>
        <p:grpSp>
          <p:nvGrpSpPr>
            <p:cNvPr id="3" name="見出しと説明"/>
            <p:cNvGrpSpPr/>
            <p:nvPr/>
          </p:nvGrpSpPr>
          <p:grpSpPr>
            <a:xfrm>
              <a:off x="533400" y="396240"/>
              <a:ext cx="11125200" cy="1120140"/>
              <a:chOff x="533400" y="396240"/>
              <a:chExt cx="11125200" cy="1120140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533400" y="396240"/>
                <a:ext cx="11125200" cy="60960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l">
                  <a:lnSpc>
                    <a:spcPts val="3916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060" b="1">
                    <a:solidFill>
                      <a:srgbClr val="142C44"/>
                    </a:solidFill>
                    <a:latin typeface="Yu Gothic"/>
                    <a:ea typeface="Yu Gothic"/>
                  </a:rPr>
                  <a:t>外受容感覚を担う触覚センサ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571500" y="1104900"/>
                <a:ext cx="11049000" cy="41148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l">
                  <a:lnSpc>
                    <a:spcPts val="23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59" b="0">
                    <a:solidFill>
                      <a:srgbClr val="617689"/>
                    </a:solidFill>
                    <a:latin typeface="Yu Gothic"/>
                    <a:ea typeface="Yu Gothic"/>
                  </a:rPr>
                  <a:t>ソフトロボットが、周囲の物体との接触状態を捉える</a:t>
                </a:r>
              </a:p>
            </p:txBody>
          </p:sp>
        </p:grpSp>
        <p:grpSp>
          <p:nvGrpSpPr>
            <p:cNvPr id="6" name="把持している物体"/>
            <p:cNvGrpSpPr/>
            <p:nvPr/>
          </p:nvGrpSpPr>
          <p:grpSpPr>
            <a:xfrm>
              <a:off x="2499360" y="2956560"/>
              <a:ext cx="2087880" cy="2087880"/>
              <a:chOff x="2499360" y="2956560"/>
              <a:chExt cx="2087880" cy="2087880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499360" y="2956560"/>
                <a:ext cx="2087880" cy="2087880"/>
              </a:xfrm>
              <a:prstGeom prst="ellipse">
                <a:avLst/>
              </a:prstGeom>
              <a:solidFill>
                <a:srgbClr val="F2AA6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2788920" y="3154680"/>
                <a:ext cx="830580" cy="46482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61">
                    <a:moveTo>
                      <a:pt x="0" y="61"/>
                    </a:moveTo>
                    <a:lnTo>
                      <a:pt x="3" y="54"/>
                    </a:lnTo>
                    <a:lnTo>
                      <a:pt x="7" y="49"/>
                    </a:lnTo>
                    <a:lnTo>
                      <a:pt x="11" y="43"/>
                    </a:lnTo>
                    <a:lnTo>
                      <a:pt x="16" y="38"/>
                    </a:lnTo>
                    <a:lnTo>
                      <a:pt x="21" y="33"/>
                    </a:lnTo>
                    <a:lnTo>
                      <a:pt x="26" y="28"/>
                    </a:lnTo>
                    <a:lnTo>
                      <a:pt x="31" y="23"/>
                    </a:lnTo>
                    <a:lnTo>
                      <a:pt x="37" y="19"/>
                    </a:lnTo>
                    <a:lnTo>
                      <a:pt x="42" y="15"/>
                    </a:lnTo>
                    <a:lnTo>
                      <a:pt x="49" y="12"/>
                    </a:lnTo>
                    <a:lnTo>
                      <a:pt x="55" y="9"/>
                    </a:lnTo>
                    <a:lnTo>
                      <a:pt x="61" y="7"/>
                    </a:lnTo>
                    <a:lnTo>
                      <a:pt x="68" y="4"/>
                    </a:lnTo>
                    <a:lnTo>
                      <a:pt x="75" y="3"/>
                    </a:lnTo>
                    <a:lnTo>
                      <a:pt x="82" y="1"/>
                    </a:lnTo>
                    <a:lnTo>
                      <a:pt x="89" y="0"/>
                    </a:lnTo>
                    <a:lnTo>
                      <a:pt x="96" y="0"/>
                    </a:lnTo>
                    <a:lnTo>
                      <a:pt x="102" y="0"/>
                    </a:lnTo>
                    <a:lnTo>
                      <a:pt x="109" y="0"/>
                    </a:lnTo>
                  </a:path>
                </a:pathLst>
              </a:custGeom>
              <a:noFill/>
              <a:ln w="91439">
                <a:solidFill>
                  <a:srgbClr val="FFD6A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3009900" y="4053840"/>
                <a:ext cx="1066800" cy="38100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ts val="2457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20" b="1">
                    <a:solidFill>
                      <a:srgbClr val="142C44"/>
                    </a:solidFill>
                    <a:latin typeface="Yu Gothic"/>
                    <a:ea typeface="Yu Gothic"/>
                  </a:rPr>
                  <a:t>物体</a:t>
                </a:r>
              </a:p>
            </p:txBody>
          </p:sp>
        </p:grpSp>
        <p:grpSp>
          <p:nvGrpSpPr>
            <p:cNvPr id="10" name="ソフトロボットハンド"/>
            <p:cNvGrpSpPr/>
            <p:nvPr/>
          </p:nvGrpSpPr>
          <p:grpSpPr>
            <a:xfrm>
              <a:off x="1409700" y="1752600"/>
              <a:ext cx="4343400" cy="4152900"/>
              <a:chOff x="1409700" y="1752600"/>
              <a:chExt cx="4343400" cy="4152900"/>
            </a:xfrm>
          </p:grpSpPr>
          <p:grpSp>
            <p:nvGrpSpPr>
              <p:cNvPr id="11" name="左の柔らかい指"/>
              <p:cNvGrpSpPr/>
              <p:nvPr/>
            </p:nvGrpSpPr>
            <p:grpSpPr>
              <a:xfrm>
                <a:off x="1935480" y="2278380"/>
                <a:ext cx="1021080" cy="2926080"/>
                <a:chOff x="1935480" y="2278380"/>
                <a:chExt cx="1021080" cy="2926080"/>
              </a:xfrm>
            </p:grpSpPr>
            <p:sp>
              <p:nvSpPr>
                <p:cNvPr id="12" name="柔らかい指の輪郭：頂点を編集可能"/>
                <p:cNvSpPr/>
                <p:nvPr/>
              </p:nvSpPr>
              <p:spPr>
                <a:xfrm>
                  <a:off x="1935480" y="2278380"/>
                  <a:ext cx="1021080" cy="292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384">
                      <a:moveTo>
                        <a:pt x="62" y="0"/>
                      </a:moveTo>
                      <a:lnTo>
                        <a:pt x="58" y="5"/>
                      </a:lnTo>
                      <a:lnTo>
                        <a:pt x="54" y="11"/>
                      </a:lnTo>
                      <a:lnTo>
                        <a:pt x="50" y="16"/>
                      </a:lnTo>
                      <a:lnTo>
                        <a:pt x="46" y="22"/>
                      </a:lnTo>
                      <a:lnTo>
                        <a:pt x="43" y="28"/>
                      </a:lnTo>
                      <a:lnTo>
                        <a:pt x="39" y="34"/>
                      </a:lnTo>
                      <a:lnTo>
                        <a:pt x="36" y="40"/>
                      </a:lnTo>
                      <a:lnTo>
                        <a:pt x="33" y="46"/>
                      </a:lnTo>
                      <a:lnTo>
                        <a:pt x="30" y="53"/>
                      </a:lnTo>
                      <a:lnTo>
                        <a:pt x="27" y="60"/>
                      </a:lnTo>
                      <a:lnTo>
                        <a:pt x="24" y="67"/>
                      </a:lnTo>
                      <a:lnTo>
                        <a:pt x="21" y="74"/>
                      </a:lnTo>
                      <a:lnTo>
                        <a:pt x="19" y="81"/>
                      </a:lnTo>
                      <a:lnTo>
                        <a:pt x="16" y="89"/>
                      </a:lnTo>
                      <a:lnTo>
                        <a:pt x="14" y="96"/>
                      </a:lnTo>
                      <a:lnTo>
                        <a:pt x="12" y="104"/>
                      </a:lnTo>
                      <a:lnTo>
                        <a:pt x="10" y="112"/>
                      </a:lnTo>
                      <a:lnTo>
                        <a:pt x="8" y="120"/>
                      </a:lnTo>
                      <a:lnTo>
                        <a:pt x="6" y="128"/>
                      </a:lnTo>
                      <a:lnTo>
                        <a:pt x="5" y="136"/>
                      </a:lnTo>
                      <a:lnTo>
                        <a:pt x="4" y="145"/>
                      </a:lnTo>
                      <a:lnTo>
                        <a:pt x="3" y="153"/>
                      </a:lnTo>
                      <a:lnTo>
                        <a:pt x="2" y="162"/>
                      </a:lnTo>
                      <a:lnTo>
                        <a:pt x="1" y="170"/>
                      </a:lnTo>
                      <a:lnTo>
                        <a:pt x="1" y="179"/>
                      </a:lnTo>
                      <a:lnTo>
                        <a:pt x="0" y="188"/>
                      </a:lnTo>
                      <a:lnTo>
                        <a:pt x="1" y="197"/>
                      </a:lnTo>
                      <a:lnTo>
                        <a:pt x="1" y="206"/>
                      </a:lnTo>
                      <a:lnTo>
                        <a:pt x="1" y="215"/>
                      </a:lnTo>
                      <a:lnTo>
                        <a:pt x="2" y="224"/>
                      </a:lnTo>
                      <a:lnTo>
                        <a:pt x="4" y="232"/>
                      </a:lnTo>
                      <a:lnTo>
                        <a:pt x="5" y="241"/>
                      </a:lnTo>
                      <a:lnTo>
                        <a:pt x="7" y="250"/>
                      </a:lnTo>
                      <a:lnTo>
                        <a:pt x="9" y="259"/>
                      </a:lnTo>
                      <a:lnTo>
                        <a:pt x="11" y="268"/>
                      </a:lnTo>
                      <a:lnTo>
                        <a:pt x="14" y="277"/>
                      </a:lnTo>
                      <a:lnTo>
                        <a:pt x="17" y="286"/>
                      </a:lnTo>
                      <a:lnTo>
                        <a:pt x="21" y="295"/>
                      </a:lnTo>
                      <a:lnTo>
                        <a:pt x="25" y="303"/>
                      </a:lnTo>
                      <a:lnTo>
                        <a:pt x="29" y="312"/>
                      </a:lnTo>
                      <a:lnTo>
                        <a:pt x="34" y="320"/>
                      </a:lnTo>
                      <a:lnTo>
                        <a:pt x="39" y="329"/>
                      </a:lnTo>
                      <a:lnTo>
                        <a:pt x="44" y="337"/>
                      </a:lnTo>
                      <a:lnTo>
                        <a:pt x="50" y="345"/>
                      </a:lnTo>
                      <a:lnTo>
                        <a:pt x="57" y="353"/>
                      </a:lnTo>
                      <a:lnTo>
                        <a:pt x="63" y="360"/>
                      </a:lnTo>
                      <a:lnTo>
                        <a:pt x="71" y="368"/>
                      </a:lnTo>
                      <a:lnTo>
                        <a:pt x="78" y="375"/>
                      </a:lnTo>
                      <a:lnTo>
                        <a:pt x="83" y="379"/>
                      </a:lnTo>
                      <a:lnTo>
                        <a:pt x="89" y="382"/>
                      </a:lnTo>
                      <a:lnTo>
                        <a:pt x="95" y="384"/>
                      </a:lnTo>
                      <a:lnTo>
                        <a:pt x="102" y="384"/>
                      </a:lnTo>
                      <a:lnTo>
                        <a:pt x="108" y="383"/>
                      </a:lnTo>
                      <a:lnTo>
                        <a:pt x="114" y="381"/>
                      </a:lnTo>
                      <a:lnTo>
                        <a:pt x="120" y="378"/>
                      </a:lnTo>
                      <a:lnTo>
                        <a:pt x="125" y="374"/>
                      </a:lnTo>
                      <a:lnTo>
                        <a:pt x="129" y="369"/>
                      </a:lnTo>
                      <a:lnTo>
                        <a:pt x="132" y="363"/>
                      </a:lnTo>
                      <a:lnTo>
                        <a:pt x="134" y="357"/>
                      </a:lnTo>
                      <a:lnTo>
                        <a:pt x="134" y="350"/>
                      </a:lnTo>
                      <a:lnTo>
                        <a:pt x="133" y="344"/>
                      </a:lnTo>
                      <a:lnTo>
                        <a:pt x="131" y="338"/>
                      </a:lnTo>
                      <a:lnTo>
                        <a:pt x="128" y="332"/>
                      </a:lnTo>
                      <a:lnTo>
                        <a:pt x="124" y="327"/>
                      </a:lnTo>
                      <a:lnTo>
                        <a:pt x="119" y="322"/>
                      </a:lnTo>
                      <a:lnTo>
                        <a:pt x="114" y="316"/>
                      </a:lnTo>
                      <a:lnTo>
                        <a:pt x="109" y="310"/>
                      </a:lnTo>
                      <a:lnTo>
                        <a:pt x="105" y="305"/>
                      </a:lnTo>
                      <a:lnTo>
                        <a:pt x="102" y="299"/>
                      </a:lnTo>
                      <a:lnTo>
                        <a:pt x="98" y="293"/>
                      </a:lnTo>
                      <a:lnTo>
                        <a:pt x="95" y="287"/>
                      </a:lnTo>
                      <a:lnTo>
                        <a:pt x="92" y="281"/>
                      </a:lnTo>
                      <a:lnTo>
                        <a:pt x="90" y="275"/>
                      </a:lnTo>
                      <a:lnTo>
                        <a:pt x="87" y="269"/>
                      </a:lnTo>
                      <a:lnTo>
                        <a:pt x="85" y="262"/>
                      </a:lnTo>
                      <a:lnTo>
                        <a:pt x="84" y="256"/>
                      </a:lnTo>
                      <a:lnTo>
                        <a:pt x="82" y="250"/>
                      </a:lnTo>
                      <a:lnTo>
                        <a:pt x="81" y="243"/>
                      </a:lnTo>
                      <a:lnTo>
                        <a:pt x="80" y="237"/>
                      </a:lnTo>
                      <a:lnTo>
                        <a:pt x="79" y="230"/>
                      </a:lnTo>
                      <a:lnTo>
                        <a:pt x="78" y="224"/>
                      </a:lnTo>
                      <a:lnTo>
                        <a:pt x="78" y="217"/>
                      </a:lnTo>
                      <a:lnTo>
                        <a:pt x="78" y="211"/>
                      </a:lnTo>
                      <a:lnTo>
                        <a:pt x="78" y="204"/>
                      </a:lnTo>
                      <a:lnTo>
                        <a:pt x="78" y="197"/>
                      </a:lnTo>
                      <a:lnTo>
                        <a:pt x="78" y="191"/>
                      </a:lnTo>
                      <a:lnTo>
                        <a:pt x="79" y="184"/>
                      </a:lnTo>
                      <a:lnTo>
                        <a:pt x="80" y="178"/>
                      </a:lnTo>
                      <a:lnTo>
                        <a:pt x="81" y="171"/>
                      </a:lnTo>
                      <a:lnTo>
                        <a:pt x="82" y="165"/>
                      </a:lnTo>
                      <a:lnTo>
                        <a:pt x="83" y="159"/>
                      </a:lnTo>
                      <a:lnTo>
                        <a:pt x="85" y="152"/>
                      </a:lnTo>
                      <a:lnTo>
                        <a:pt x="86" y="146"/>
                      </a:lnTo>
                      <a:lnTo>
                        <a:pt x="88" y="140"/>
                      </a:lnTo>
                      <a:lnTo>
                        <a:pt x="90" y="134"/>
                      </a:lnTo>
                      <a:lnTo>
                        <a:pt x="92" y="128"/>
                      </a:lnTo>
                      <a:lnTo>
                        <a:pt x="94" y="122"/>
                      </a:lnTo>
                      <a:lnTo>
                        <a:pt x="96" y="117"/>
                      </a:lnTo>
                      <a:lnTo>
                        <a:pt x="98" y="111"/>
                      </a:lnTo>
                      <a:lnTo>
                        <a:pt x="101" y="106"/>
                      </a:lnTo>
                      <a:lnTo>
                        <a:pt x="103" y="101"/>
                      </a:lnTo>
                      <a:lnTo>
                        <a:pt x="105" y="96"/>
                      </a:lnTo>
                      <a:lnTo>
                        <a:pt x="108" y="92"/>
                      </a:lnTo>
                      <a:lnTo>
                        <a:pt x="111" y="87"/>
                      </a:lnTo>
                      <a:lnTo>
                        <a:pt x="113" y="83"/>
                      </a:lnTo>
                      <a:lnTo>
                        <a:pt x="116" y="79"/>
                      </a:lnTo>
                      <a:lnTo>
                        <a:pt x="118" y="76"/>
                      </a:lnTo>
                      <a:lnTo>
                        <a:pt x="121" y="72"/>
                      </a:lnTo>
                      <a:lnTo>
                        <a:pt x="123" y="69"/>
                      </a:lnTo>
                      <a:lnTo>
                        <a:pt x="126" y="66"/>
                      </a:lnTo>
                      <a:lnTo>
                        <a:pt x="128" y="64"/>
                      </a:lnTo>
                      <a:lnTo>
                        <a:pt x="130" y="62"/>
                      </a:lnTo>
                      <a:close/>
                    </a:path>
                  </a:pathLst>
                </a:custGeom>
                <a:solidFill>
                  <a:srgbClr val="E0F0EF"/>
                </a:solidFill>
                <a:ln w="22859">
                  <a:solidFill>
                    <a:srgbClr val="007F86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" name="蛇腹のひだ"/>
                <p:cNvSpPr/>
                <p:nvPr/>
              </p:nvSpPr>
              <p:spPr>
                <a:xfrm>
                  <a:off x="2331720" y="2529840"/>
                  <a:ext cx="4191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" h="35">
                      <a:moveTo>
                        <a:pt x="55" y="35"/>
                      </a:moveTo>
                      <a:lnTo>
                        <a:pt x="49" y="29"/>
                      </a:lnTo>
                      <a:lnTo>
                        <a:pt x="39" y="22"/>
                      </a:lnTo>
                      <a:lnTo>
                        <a:pt x="28" y="15"/>
                      </a:lnTo>
                      <a:lnTo>
                        <a:pt x="16" y="8"/>
                      </a:lnTo>
                      <a:lnTo>
                        <a:pt x="7" y="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rgbClr val="9CCBC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" name="蛇腹のひだ"/>
                <p:cNvSpPr/>
                <p:nvPr/>
              </p:nvSpPr>
              <p:spPr>
                <a:xfrm>
                  <a:off x="2202180" y="2804160"/>
                  <a:ext cx="43434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" h="25">
                      <a:moveTo>
                        <a:pt x="57" y="25"/>
                      </a:moveTo>
                      <a:lnTo>
                        <a:pt x="50" y="21"/>
                      </a:lnTo>
                      <a:lnTo>
                        <a:pt x="40" y="16"/>
                      </a:lnTo>
                      <a:lnTo>
                        <a:pt x="28" y="10"/>
                      </a:lnTo>
                      <a:lnTo>
                        <a:pt x="17" y="6"/>
                      </a:lnTo>
                      <a:lnTo>
                        <a:pt x="7" y="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rgbClr val="9CCBC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" name="蛇腹のひだ"/>
                <p:cNvSpPr/>
                <p:nvPr/>
              </p:nvSpPr>
              <p:spPr>
                <a:xfrm>
                  <a:off x="2095500" y="3124200"/>
                  <a:ext cx="441960" cy="129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" h="17">
                      <a:moveTo>
                        <a:pt x="58" y="17"/>
                      </a:moveTo>
                      <a:lnTo>
                        <a:pt x="51" y="13"/>
                      </a:lnTo>
                      <a:lnTo>
                        <a:pt x="41" y="9"/>
                      </a:lnTo>
                      <a:lnTo>
                        <a:pt x="29" y="6"/>
                      </a:lnTo>
                      <a:lnTo>
                        <a:pt x="17" y="3"/>
                      </a:lnTo>
                      <a:lnTo>
                        <a:pt x="7" y="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rgbClr val="9CCBC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" name="蛇腹のひだ"/>
                <p:cNvSpPr/>
                <p:nvPr/>
              </p:nvSpPr>
              <p:spPr>
                <a:xfrm>
                  <a:off x="2034540" y="3474720"/>
                  <a:ext cx="434340" cy="6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" h="8">
                      <a:moveTo>
                        <a:pt x="57" y="8"/>
                      </a:moveTo>
                      <a:lnTo>
                        <a:pt x="50" y="6"/>
                      </a:lnTo>
                      <a:lnTo>
                        <a:pt x="40" y="3"/>
                      </a:lnTo>
                      <a:lnTo>
                        <a:pt x="29" y="1"/>
                      </a:lnTo>
                      <a:lnTo>
                        <a:pt x="17" y="0"/>
                      </a:lnTo>
                      <a:lnTo>
                        <a:pt x="7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rgbClr val="9CCBC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" name="蛇腹のひだ"/>
                <p:cNvSpPr/>
                <p:nvPr/>
              </p:nvSpPr>
              <p:spPr>
                <a:xfrm>
                  <a:off x="2019300" y="3817620"/>
                  <a:ext cx="426720" cy="30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" h="4">
                      <a:moveTo>
                        <a:pt x="56" y="2"/>
                      </a:moveTo>
                      <a:lnTo>
                        <a:pt x="49" y="1"/>
                      </a:lnTo>
                      <a:lnTo>
                        <a:pt x="40" y="0"/>
                      </a:lnTo>
                      <a:lnTo>
                        <a:pt x="28" y="0"/>
                      </a:lnTo>
                      <a:lnTo>
                        <a:pt x="17" y="1"/>
                      </a:lnTo>
                      <a:lnTo>
                        <a:pt x="7" y="2"/>
                      </a:lnTo>
                      <a:lnTo>
                        <a:pt x="0" y="4"/>
                      </a:lnTo>
                    </a:path>
                  </a:pathLst>
                </a:custGeom>
                <a:noFill/>
                <a:ln w="38100">
                  <a:solidFill>
                    <a:srgbClr val="9CCBC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8" name="蛇腹のひだ"/>
                <p:cNvSpPr/>
                <p:nvPr/>
              </p:nvSpPr>
              <p:spPr>
                <a:xfrm>
                  <a:off x="2080260" y="4137660"/>
                  <a:ext cx="39624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" h="12">
                      <a:moveTo>
                        <a:pt x="52" y="0"/>
                      </a:moveTo>
                      <a:lnTo>
                        <a:pt x="46" y="0"/>
                      </a:lnTo>
                      <a:lnTo>
                        <a:pt x="37" y="1"/>
                      </a:lnTo>
                      <a:lnTo>
                        <a:pt x="26" y="3"/>
                      </a:lnTo>
                      <a:lnTo>
                        <a:pt x="15" y="6"/>
                      </a:lnTo>
                      <a:lnTo>
                        <a:pt x="6" y="9"/>
                      </a:lnTo>
                      <a:lnTo>
                        <a:pt x="0" y="12"/>
                      </a:lnTo>
                    </a:path>
                  </a:pathLst>
                </a:custGeom>
                <a:noFill/>
                <a:ln w="38100">
                  <a:solidFill>
                    <a:srgbClr val="9CCBC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" name="蛇腹のひだ"/>
                <p:cNvSpPr/>
                <p:nvPr/>
              </p:nvSpPr>
              <p:spPr>
                <a:xfrm>
                  <a:off x="2217420" y="4427220"/>
                  <a:ext cx="350520" cy="167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22">
                      <a:moveTo>
                        <a:pt x="46" y="0"/>
                      </a:moveTo>
                      <a:lnTo>
                        <a:pt x="41" y="1"/>
                      </a:lnTo>
                      <a:lnTo>
                        <a:pt x="33" y="4"/>
                      </a:lnTo>
                      <a:lnTo>
                        <a:pt x="23" y="8"/>
                      </a:lnTo>
                      <a:lnTo>
                        <a:pt x="14" y="13"/>
                      </a:lnTo>
                      <a:lnTo>
                        <a:pt x="6" y="18"/>
                      </a:lnTo>
                      <a:lnTo>
                        <a:pt x="0" y="22"/>
                      </a:lnTo>
                    </a:path>
                  </a:pathLst>
                </a:custGeom>
                <a:noFill/>
                <a:ln w="38100">
                  <a:solidFill>
                    <a:srgbClr val="9CCBC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0" name="右の柔らかい指"/>
              <p:cNvGrpSpPr/>
              <p:nvPr/>
            </p:nvGrpSpPr>
            <p:grpSpPr>
              <a:xfrm>
                <a:off x="4130040" y="2278380"/>
                <a:ext cx="1021080" cy="2926080"/>
                <a:chOff x="4130040" y="2278380"/>
                <a:chExt cx="1021080" cy="2926080"/>
              </a:xfrm>
            </p:grpSpPr>
            <p:sp>
              <p:nvSpPr>
                <p:cNvPr id="21" name="柔らかい指の輪郭：頂点を編集可能"/>
                <p:cNvSpPr/>
                <p:nvPr/>
              </p:nvSpPr>
              <p:spPr>
                <a:xfrm>
                  <a:off x="4130040" y="2278380"/>
                  <a:ext cx="1021080" cy="292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384">
                      <a:moveTo>
                        <a:pt x="4" y="62"/>
                      </a:moveTo>
                      <a:lnTo>
                        <a:pt x="6" y="64"/>
                      </a:lnTo>
                      <a:lnTo>
                        <a:pt x="8" y="66"/>
                      </a:lnTo>
                      <a:lnTo>
                        <a:pt x="11" y="69"/>
                      </a:lnTo>
                      <a:lnTo>
                        <a:pt x="13" y="72"/>
                      </a:lnTo>
                      <a:lnTo>
                        <a:pt x="16" y="76"/>
                      </a:lnTo>
                      <a:lnTo>
                        <a:pt x="18" y="79"/>
                      </a:lnTo>
                      <a:lnTo>
                        <a:pt x="21" y="83"/>
                      </a:lnTo>
                      <a:lnTo>
                        <a:pt x="23" y="87"/>
                      </a:lnTo>
                      <a:lnTo>
                        <a:pt x="26" y="92"/>
                      </a:lnTo>
                      <a:lnTo>
                        <a:pt x="29" y="96"/>
                      </a:lnTo>
                      <a:lnTo>
                        <a:pt x="31" y="101"/>
                      </a:lnTo>
                      <a:lnTo>
                        <a:pt x="33" y="106"/>
                      </a:lnTo>
                      <a:lnTo>
                        <a:pt x="36" y="111"/>
                      </a:lnTo>
                      <a:lnTo>
                        <a:pt x="38" y="117"/>
                      </a:lnTo>
                      <a:lnTo>
                        <a:pt x="40" y="122"/>
                      </a:lnTo>
                      <a:lnTo>
                        <a:pt x="42" y="128"/>
                      </a:lnTo>
                      <a:lnTo>
                        <a:pt x="44" y="134"/>
                      </a:lnTo>
                      <a:lnTo>
                        <a:pt x="46" y="140"/>
                      </a:lnTo>
                      <a:lnTo>
                        <a:pt x="48" y="146"/>
                      </a:lnTo>
                      <a:lnTo>
                        <a:pt x="49" y="152"/>
                      </a:lnTo>
                      <a:lnTo>
                        <a:pt x="51" y="159"/>
                      </a:lnTo>
                      <a:lnTo>
                        <a:pt x="52" y="165"/>
                      </a:lnTo>
                      <a:lnTo>
                        <a:pt x="53" y="171"/>
                      </a:lnTo>
                      <a:lnTo>
                        <a:pt x="54" y="178"/>
                      </a:lnTo>
                      <a:lnTo>
                        <a:pt x="55" y="184"/>
                      </a:lnTo>
                      <a:lnTo>
                        <a:pt x="56" y="191"/>
                      </a:lnTo>
                      <a:lnTo>
                        <a:pt x="56" y="197"/>
                      </a:lnTo>
                      <a:lnTo>
                        <a:pt x="56" y="204"/>
                      </a:lnTo>
                      <a:lnTo>
                        <a:pt x="56" y="211"/>
                      </a:lnTo>
                      <a:lnTo>
                        <a:pt x="56" y="217"/>
                      </a:lnTo>
                      <a:lnTo>
                        <a:pt x="56" y="224"/>
                      </a:lnTo>
                      <a:lnTo>
                        <a:pt x="55" y="230"/>
                      </a:lnTo>
                      <a:lnTo>
                        <a:pt x="54" y="237"/>
                      </a:lnTo>
                      <a:lnTo>
                        <a:pt x="53" y="243"/>
                      </a:lnTo>
                      <a:lnTo>
                        <a:pt x="52" y="250"/>
                      </a:lnTo>
                      <a:lnTo>
                        <a:pt x="50" y="256"/>
                      </a:lnTo>
                      <a:lnTo>
                        <a:pt x="49" y="262"/>
                      </a:lnTo>
                      <a:lnTo>
                        <a:pt x="47" y="269"/>
                      </a:lnTo>
                      <a:lnTo>
                        <a:pt x="44" y="275"/>
                      </a:lnTo>
                      <a:lnTo>
                        <a:pt x="42" y="281"/>
                      </a:lnTo>
                      <a:lnTo>
                        <a:pt x="39" y="287"/>
                      </a:lnTo>
                      <a:lnTo>
                        <a:pt x="36" y="293"/>
                      </a:lnTo>
                      <a:lnTo>
                        <a:pt x="32" y="299"/>
                      </a:lnTo>
                      <a:lnTo>
                        <a:pt x="29" y="305"/>
                      </a:lnTo>
                      <a:lnTo>
                        <a:pt x="25" y="310"/>
                      </a:lnTo>
                      <a:lnTo>
                        <a:pt x="20" y="316"/>
                      </a:lnTo>
                      <a:lnTo>
                        <a:pt x="15" y="322"/>
                      </a:lnTo>
                      <a:lnTo>
                        <a:pt x="10" y="327"/>
                      </a:lnTo>
                      <a:lnTo>
                        <a:pt x="6" y="332"/>
                      </a:lnTo>
                      <a:lnTo>
                        <a:pt x="3" y="338"/>
                      </a:lnTo>
                      <a:lnTo>
                        <a:pt x="1" y="344"/>
                      </a:lnTo>
                      <a:lnTo>
                        <a:pt x="0" y="350"/>
                      </a:lnTo>
                      <a:lnTo>
                        <a:pt x="0" y="357"/>
                      </a:lnTo>
                      <a:lnTo>
                        <a:pt x="2" y="363"/>
                      </a:lnTo>
                      <a:lnTo>
                        <a:pt x="5" y="369"/>
                      </a:lnTo>
                      <a:lnTo>
                        <a:pt x="9" y="374"/>
                      </a:lnTo>
                      <a:lnTo>
                        <a:pt x="14" y="378"/>
                      </a:lnTo>
                      <a:lnTo>
                        <a:pt x="20" y="381"/>
                      </a:lnTo>
                      <a:lnTo>
                        <a:pt x="26" y="383"/>
                      </a:lnTo>
                      <a:lnTo>
                        <a:pt x="32" y="384"/>
                      </a:lnTo>
                      <a:lnTo>
                        <a:pt x="39" y="384"/>
                      </a:lnTo>
                      <a:lnTo>
                        <a:pt x="45" y="382"/>
                      </a:lnTo>
                      <a:lnTo>
                        <a:pt x="51" y="379"/>
                      </a:lnTo>
                      <a:lnTo>
                        <a:pt x="56" y="375"/>
                      </a:lnTo>
                      <a:lnTo>
                        <a:pt x="63" y="368"/>
                      </a:lnTo>
                      <a:lnTo>
                        <a:pt x="71" y="360"/>
                      </a:lnTo>
                      <a:lnTo>
                        <a:pt x="77" y="353"/>
                      </a:lnTo>
                      <a:lnTo>
                        <a:pt x="84" y="345"/>
                      </a:lnTo>
                      <a:lnTo>
                        <a:pt x="90" y="337"/>
                      </a:lnTo>
                      <a:lnTo>
                        <a:pt x="95" y="329"/>
                      </a:lnTo>
                      <a:lnTo>
                        <a:pt x="100" y="320"/>
                      </a:lnTo>
                      <a:lnTo>
                        <a:pt x="105" y="312"/>
                      </a:lnTo>
                      <a:lnTo>
                        <a:pt x="109" y="303"/>
                      </a:lnTo>
                      <a:lnTo>
                        <a:pt x="113" y="295"/>
                      </a:lnTo>
                      <a:lnTo>
                        <a:pt x="117" y="286"/>
                      </a:lnTo>
                      <a:lnTo>
                        <a:pt x="120" y="277"/>
                      </a:lnTo>
                      <a:lnTo>
                        <a:pt x="123" y="268"/>
                      </a:lnTo>
                      <a:lnTo>
                        <a:pt x="125" y="259"/>
                      </a:lnTo>
                      <a:lnTo>
                        <a:pt x="127" y="250"/>
                      </a:lnTo>
                      <a:lnTo>
                        <a:pt x="129" y="241"/>
                      </a:lnTo>
                      <a:lnTo>
                        <a:pt x="130" y="232"/>
                      </a:lnTo>
                      <a:lnTo>
                        <a:pt x="132" y="224"/>
                      </a:lnTo>
                      <a:lnTo>
                        <a:pt x="133" y="215"/>
                      </a:lnTo>
                      <a:lnTo>
                        <a:pt x="133" y="206"/>
                      </a:lnTo>
                      <a:lnTo>
                        <a:pt x="133" y="197"/>
                      </a:lnTo>
                      <a:lnTo>
                        <a:pt x="134" y="188"/>
                      </a:lnTo>
                      <a:lnTo>
                        <a:pt x="133" y="179"/>
                      </a:lnTo>
                      <a:lnTo>
                        <a:pt x="133" y="170"/>
                      </a:lnTo>
                      <a:lnTo>
                        <a:pt x="132" y="162"/>
                      </a:lnTo>
                      <a:lnTo>
                        <a:pt x="131" y="153"/>
                      </a:lnTo>
                      <a:lnTo>
                        <a:pt x="130" y="145"/>
                      </a:lnTo>
                      <a:lnTo>
                        <a:pt x="129" y="136"/>
                      </a:lnTo>
                      <a:lnTo>
                        <a:pt x="128" y="128"/>
                      </a:lnTo>
                      <a:lnTo>
                        <a:pt x="126" y="120"/>
                      </a:lnTo>
                      <a:lnTo>
                        <a:pt x="124" y="112"/>
                      </a:lnTo>
                      <a:lnTo>
                        <a:pt x="122" y="104"/>
                      </a:lnTo>
                      <a:lnTo>
                        <a:pt x="120" y="96"/>
                      </a:lnTo>
                      <a:lnTo>
                        <a:pt x="118" y="89"/>
                      </a:lnTo>
                      <a:lnTo>
                        <a:pt x="115" y="81"/>
                      </a:lnTo>
                      <a:lnTo>
                        <a:pt x="113" y="74"/>
                      </a:lnTo>
                      <a:lnTo>
                        <a:pt x="110" y="67"/>
                      </a:lnTo>
                      <a:lnTo>
                        <a:pt x="107" y="60"/>
                      </a:lnTo>
                      <a:lnTo>
                        <a:pt x="104" y="53"/>
                      </a:lnTo>
                      <a:lnTo>
                        <a:pt x="101" y="46"/>
                      </a:lnTo>
                      <a:lnTo>
                        <a:pt x="98" y="40"/>
                      </a:lnTo>
                      <a:lnTo>
                        <a:pt x="95" y="34"/>
                      </a:lnTo>
                      <a:lnTo>
                        <a:pt x="91" y="28"/>
                      </a:lnTo>
                      <a:lnTo>
                        <a:pt x="88" y="22"/>
                      </a:lnTo>
                      <a:lnTo>
                        <a:pt x="84" y="16"/>
                      </a:lnTo>
                      <a:lnTo>
                        <a:pt x="80" y="11"/>
                      </a:lnTo>
                      <a:lnTo>
                        <a:pt x="76" y="5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solidFill>
                  <a:srgbClr val="E0F0EF"/>
                </a:solidFill>
                <a:ln w="22859">
                  <a:solidFill>
                    <a:srgbClr val="007F86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" name="蛇腹のひだ"/>
                <p:cNvSpPr/>
                <p:nvPr/>
              </p:nvSpPr>
              <p:spPr>
                <a:xfrm>
                  <a:off x="4335780" y="2529840"/>
                  <a:ext cx="4191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" h="35">
                      <a:moveTo>
                        <a:pt x="55" y="0"/>
                      </a:moveTo>
                      <a:lnTo>
                        <a:pt x="48" y="3"/>
                      </a:lnTo>
                      <a:lnTo>
                        <a:pt x="39" y="8"/>
                      </a:lnTo>
                      <a:lnTo>
                        <a:pt x="27" y="15"/>
                      </a:lnTo>
                      <a:lnTo>
                        <a:pt x="16" y="22"/>
                      </a:lnTo>
                      <a:lnTo>
                        <a:pt x="6" y="29"/>
                      </a:lnTo>
                      <a:lnTo>
                        <a:pt x="0" y="35"/>
                      </a:lnTo>
                    </a:path>
                  </a:pathLst>
                </a:custGeom>
                <a:noFill/>
                <a:ln w="38100">
                  <a:solidFill>
                    <a:srgbClr val="9CCBC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" name="蛇腹のひだ"/>
                <p:cNvSpPr/>
                <p:nvPr/>
              </p:nvSpPr>
              <p:spPr>
                <a:xfrm>
                  <a:off x="4450080" y="2804160"/>
                  <a:ext cx="43434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" h="25">
                      <a:moveTo>
                        <a:pt x="57" y="0"/>
                      </a:moveTo>
                      <a:lnTo>
                        <a:pt x="50" y="2"/>
                      </a:lnTo>
                      <a:lnTo>
                        <a:pt x="40" y="6"/>
                      </a:lnTo>
                      <a:lnTo>
                        <a:pt x="29" y="10"/>
                      </a:lnTo>
                      <a:lnTo>
                        <a:pt x="17" y="16"/>
                      </a:lnTo>
                      <a:lnTo>
                        <a:pt x="7" y="21"/>
                      </a:lnTo>
                      <a:lnTo>
                        <a:pt x="0" y="25"/>
                      </a:lnTo>
                    </a:path>
                  </a:pathLst>
                </a:custGeom>
                <a:noFill/>
                <a:ln w="38100">
                  <a:solidFill>
                    <a:srgbClr val="9CCBC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4" name="蛇腹のひだ"/>
                <p:cNvSpPr/>
                <p:nvPr/>
              </p:nvSpPr>
              <p:spPr>
                <a:xfrm>
                  <a:off x="4549140" y="3124200"/>
                  <a:ext cx="441960" cy="129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" h="17">
                      <a:moveTo>
                        <a:pt x="58" y="0"/>
                      </a:moveTo>
                      <a:lnTo>
                        <a:pt x="51" y="1"/>
                      </a:lnTo>
                      <a:lnTo>
                        <a:pt x="41" y="3"/>
                      </a:lnTo>
                      <a:lnTo>
                        <a:pt x="29" y="6"/>
                      </a:lnTo>
                      <a:lnTo>
                        <a:pt x="17" y="9"/>
                      </a:lnTo>
                      <a:lnTo>
                        <a:pt x="7" y="13"/>
                      </a:lnTo>
                      <a:lnTo>
                        <a:pt x="0" y="17"/>
                      </a:lnTo>
                    </a:path>
                  </a:pathLst>
                </a:custGeom>
                <a:noFill/>
                <a:ln w="38100">
                  <a:solidFill>
                    <a:srgbClr val="9CCBC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5" name="蛇腹のひだ"/>
                <p:cNvSpPr/>
                <p:nvPr/>
              </p:nvSpPr>
              <p:spPr>
                <a:xfrm>
                  <a:off x="4617720" y="3474720"/>
                  <a:ext cx="434340" cy="6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" h="8">
                      <a:moveTo>
                        <a:pt x="57" y="0"/>
                      </a:moveTo>
                      <a:lnTo>
                        <a:pt x="50" y="0"/>
                      </a:lnTo>
                      <a:lnTo>
                        <a:pt x="40" y="0"/>
                      </a:lnTo>
                      <a:lnTo>
                        <a:pt x="28" y="1"/>
                      </a:lnTo>
                      <a:lnTo>
                        <a:pt x="17" y="3"/>
                      </a:lnTo>
                      <a:lnTo>
                        <a:pt x="7" y="6"/>
                      </a:lnTo>
                      <a:lnTo>
                        <a:pt x="0" y="8"/>
                      </a:lnTo>
                    </a:path>
                  </a:pathLst>
                </a:custGeom>
                <a:noFill/>
                <a:ln w="38100">
                  <a:solidFill>
                    <a:srgbClr val="9CCBC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6" name="蛇腹のひだ"/>
                <p:cNvSpPr/>
                <p:nvPr/>
              </p:nvSpPr>
              <p:spPr>
                <a:xfrm>
                  <a:off x="4640580" y="3817620"/>
                  <a:ext cx="426720" cy="30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" h="4">
                      <a:moveTo>
                        <a:pt x="56" y="4"/>
                      </a:moveTo>
                      <a:lnTo>
                        <a:pt x="49" y="2"/>
                      </a:lnTo>
                      <a:lnTo>
                        <a:pt x="39" y="1"/>
                      </a:lnTo>
                      <a:lnTo>
                        <a:pt x="28" y="0"/>
                      </a:lnTo>
                      <a:lnTo>
                        <a:pt x="16" y="0"/>
                      </a:lnTo>
                      <a:lnTo>
                        <a:pt x="7" y="1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w="38100">
                  <a:solidFill>
                    <a:srgbClr val="9CCBC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7" name="蛇腹のひだ"/>
                <p:cNvSpPr/>
                <p:nvPr/>
              </p:nvSpPr>
              <p:spPr>
                <a:xfrm>
                  <a:off x="4610100" y="4137660"/>
                  <a:ext cx="39624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" h="12">
                      <a:moveTo>
                        <a:pt x="52" y="12"/>
                      </a:moveTo>
                      <a:lnTo>
                        <a:pt x="46" y="9"/>
                      </a:lnTo>
                      <a:lnTo>
                        <a:pt x="37" y="6"/>
                      </a:lnTo>
                      <a:lnTo>
                        <a:pt x="26" y="3"/>
                      </a:lnTo>
                      <a:lnTo>
                        <a:pt x="15" y="1"/>
                      </a:lnTo>
                      <a:lnTo>
                        <a:pt x="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rgbClr val="9CCBC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8" name="蛇腹のひだ"/>
                <p:cNvSpPr/>
                <p:nvPr/>
              </p:nvSpPr>
              <p:spPr>
                <a:xfrm>
                  <a:off x="4518660" y="4427220"/>
                  <a:ext cx="350520" cy="167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22">
                      <a:moveTo>
                        <a:pt x="46" y="22"/>
                      </a:moveTo>
                      <a:lnTo>
                        <a:pt x="40" y="18"/>
                      </a:lnTo>
                      <a:lnTo>
                        <a:pt x="32" y="13"/>
                      </a:lnTo>
                      <a:lnTo>
                        <a:pt x="23" y="8"/>
                      </a:lnTo>
                      <a:lnTo>
                        <a:pt x="13" y="4"/>
                      </a:lnTo>
                      <a:lnTo>
                        <a:pt x="5" y="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rgbClr val="9CCBC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29" name="Freeform 28"/>
              <p:cNvSpPr/>
              <p:nvPr/>
            </p:nvSpPr>
            <p:spPr>
              <a:xfrm>
                <a:off x="2918460" y="1752600"/>
                <a:ext cx="76200" cy="365760"/>
              </a:xfrm>
              <a:custGeom>
                <a:avLst/>
                <a:gdLst/>
                <a:ahLst/>
                <a:cxnLst/>
                <a:rect l="l" t="t" r="r" b="b"/>
                <a:pathLst>
                  <a:path w="10" h="48">
                    <a:moveTo>
                      <a:pt x="10" y="48"/>
                    </a:moveTo>
                    <a:lnTo>
                      <a:pt x="10" y="19"/>
                    </a:lnTo>
                    <a:lnTo>
                      <a:pt x="0" y="0"/>
                    </a:lnTo>
                  </a:path>
                </a:pathLst>
              </a:custGeom>
              <a:noFill/>
              <a:ln w="83820">
                <a:solidFill>
                  <a:srgbClr val="007F8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Freeform 29"/>
              <p:cNvSpPr/>
              <p:nvPr/>
            </p:nvSpPr>
            <p:spPr>
              <a:xfrm>
                <a:off x="4015740" y="1752600"/>
                <a:ext cx="76200" cy="365760"/>
              </a:xfrm>
              <a:custGeom>
                <a:avLst/>
                <a:gdLst/>
                <a:ahLst/>
                <a:cxnLst/>
                <a:rect l="l" t="t" r="r" b="b"/>
                <a:pathLst>
                  <a:path w="10" h="48">
                    <a:moveTo>
                      <a:pt x="10" y="48"/>
                    </a:moveTo>
                    <a:lnTo>
                      <a:pt x="10" y="19"/>
                    </a:lnTo>
                    <a:lnTo>
                      <a:pt x="0" y="0"/>
                    </a:lnTo>
                  </a:path>
                </a:pathLst>
              </a:custGeom>
              <a:noFill/>
              <a:ln w="83820">
                <a:solidFill>
                  <a:srgbClr val="007F8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Rounded Rectangle 30"/>
              <p:cNvSpPr/>
              <p:nvPr/>
            </p:nvSpPr>
            <p:spPr>
              <a:xfrm>
                <a:off x="2286000" y="2095500"/>
                <a:ext cx="2514600" cy="609600"/>
              </a:xfrm>
              <a:prstGeom prst="roundRect">
                <a:avLst>
                  <a:gd name="adj" fmla="val 12000"/>
                </a:avLst>
              </a:prstGeom>
              <a:solidFill>
                <a:srgbClr val="007F8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Rounded Rectangle 31"/>
              <p:cNvSpPr/>
              <p:nvPr/>
            </p:nvSpPr>
            <p:spPr>
              <a:xfrm>
                <a:off x="2484120" y="2225040"/>
                <a:ext cx="2118360" cy="327660"/>
              </a:xfrm>
              <a:prstGeom prst="roundRect">
                <a:avLst>
                  <a:gd name="adj" fmla="val 12000"/>
                </a:avLst>
              </a:prstGeom>
              <a:solidFill>
                <a:srgbClr val="E7F5F4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2567940" y="2255520"/>
                <a:ext cx="1943100" cy="26670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ts val="1766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80" b="1">
                    <a:solidFill>
                      <a:srgbClr val="007F86"/>
                    </a:solidFill>
                    <a:latin typeface="Yu Gothic"/>
                    <a:ea typeface="Yu Gothic"/>
                  </a:rPr>
                  <a:t>柔らかいハンド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1409700" y="5486400"/>
                <a:ext cx="4343400" cy="41910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ts val="23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59" b="1">
                    <a:solidFill>
                      <a:srgbClr val="142C44"/>
                    </a:solidFill>
                    <a:latin typeface="Yu Gothic"/>
                    <a:ea typeface="Yu Gothic"/>
                  </a:rPr>
                  <a:t>ソフトロボットハンド</a:t>
                </a:r>
              </a:p>
            </p:txBody>
          </p:sp>
        </p:grpSp>
        <p:grpSp>
          <p:nvGrpSpPr>
            <p:cNvPr id="35" name="表面の触覚センサ"/>
            <p:cNvGrpSpPr/>
            <p:nvPr/>
          </p:nvGrpSpPr>
          <p:grpSpPr>
            <a:xfrm>
              <a:off x="571500" y="2994660"/>
              <a:ext cx="4076700" cy="1333500"/>
              <a:chOff x="571500" y="2994660"/>
              <a:chExt cx="4076700" cy="1333500"/>
            </a:xfrm>
          </p:grpSpPr>
          <p:grpSp>
            <p:nvGrpSpPr>
              <p:cNvPr id="36" name="左触覚パッド"/>
              <p:cNvGrpSpPr/>
              <p:nvPr/>
            </p:nvGrpSpPr>
            <p:grpSpPr>
              <a:xfrm>
                <a:off x="2438400" y="3649980"/>
                <a:ext cx="213360" cy="678180"/>
                <a:chOff x="2438400" y="3649980"/>
                <a:chExt cx="213360" cy="678180"/>
              </a:xfrm>
            </p:grpSpPr>
            <p:sp>
              <p:nvSpPr>
                <p:cNvPr id="37" name="Rounded Rectangle 36"/>
                <p:cNvSpPr/>
                <p:nvPr/>
              </p:nvSpPr>
              <p:spPr>
                <a:xfrm>
                  <a:off x="2438400" y="3649980"/>
                  <a:ext cx="213360" cy="67818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007F86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8" name="Oval 37"/>
                <p:cNvSpPr/>
                <p:nvPr/>
              </p:nvSpPr>
              <p:spPr>
                <a:xfrm>
                  <a:off x="2481072" y="370789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9" name="Oval 38"/>
                <p:cNvSpPr/>
                <p:nvPr/>
              </p:nvSpPr>
              <p:spPr>
                <a:xfrm>
                  <a:off x="2572512" y="370789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0" name="Oval 39"/>
                <p:cNvSpPr/>
                <p:nvPr/>
              </p:nvSpPr>
              <p:spPr>
                <a:xfrm>
                  <a:off x="2481072" y="380695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1" name="Oval 40"/>
                <p:cNvSpPr/>
                <p:nvPr/>
              </p:nvSpPr>
              <p:spPr>
                <a:xfrm>
                  <a:off x="2572512" y="380695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2" name="Oval 41"/>
                <p:cNvSpPr/>
                <p:nvPr/>
              </p:nvSpPr>
              <p:spPr>
                <a:xfrm>
                  <a:off x="2481072" y="390601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3" name="Oval 42"/>
                <p:cNvSpPr/>
                <p:nvPr/>
              </p:nvSpPr>
              <p:spPr>
                <a:xfrm>
                  <a:off x="2572512" y="390601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" name="Oval 43"/>
                <p:cNvSpPr/>
                <p:nvPr/>
              </p:nvSpPr>
              <p:spPr>
                <a:xfrm>
                  <a:off x="2481072" y="400507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5" name="Oval 44"/>
                <p:cNvSpPr/>
                <p:nvPr/>
              </p:nvSpPr>
              <p:spPr>
                <a:xfrm>
                  <a:off x="2572512" y="400507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" name="Oval 45"/>
                <p:cNvSpPr/>
                <p:nvPr/>
              </p:nvSpPr>
              <p:spPr>
                <a:xfrm>
                  <a:off x="2481072" y="410413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" name="Oval 46"/>
                <p:cNvSpPr/>
                <p:nvPr/>
              </p:nvSpPr>
              <p:spPr>
                <a:xfrm>
                  <a:off x="2572512" y="410413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" name="Oval 47"/>
                <p:cNvSpPr/>
                <p:nvPr/>
              </p:nvSpPr>
              <p:spPr>
                <a:xfrm>
                  <a:off x="2481072" y="420319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" name="Oval 48"/>
                <p:cNvSpPr/>
                <p:nvPr/>
              </p:nvSpPr>
              <p:spPr>
                <a:xfrm>
                  <a:off x="2572512" y="420319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0" name="右触覚パッド"/>
              <p:cNvGrpSpPr/>
              <p:nvPr/>
            </p:nvGrpSpPr>
            <p:grpSpPr>
              <a:xfrm>
                <a:off x="4434840" y="3649980"/>
                <a:ext cx="213360" cy="678180"/>
                <a:chOff x="4434840" y="3649980"/>
                <a:chExt cx="213360" cy="678180"/>
              </a:xfrm>
            </p:grpSpPr>
            <p:sp>
              <p:nvSpPr>
                <p:cNvPr id="51" name="Rounded Rectangle 50"/>
                <p:cNvSpPr/>
                <p:nvPr/>
              </p:nvSpPr>
              <p:spPr>
                <a:xfrm>
                  <a:off x="4434840" y="3649980"/>
                  <a:ext cx="213360" cy="67818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007F86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" name="Oval 51"/>
                <p:cNvSpPr/>
                <p:nvPr/>
              </p:nvSpPr>
              <p:spPr>
                <a:xfrm>
                  <a:off x="4477512" y="370789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" name="Oval 52"/>
                <p:cNvSpPr/>
                <p:nvPr/>
              </p:nvSpPr>
              <p:spPr>
                <a:xfrm>
                  <a:off x="4568952" y="370789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4477512" y="380695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4568952" y="380695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4477512" y="390601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" name="Oval 56"/>
                <p:cNvSpPr/>
                <p:nvPr/>
              </p:nvSpPr>
              <p:spPr>
                <a:xfrm>
                  <a:off x="4568952" y="390601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" name="Oval 57"/>
                <p:cNvSpPr/>
                <p:nvPr/>
              </p:nvSpPr>
              <p:spPr>
                <a:xfrm>
                  <a:off x="4477512" y="400507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" name="Oval 58"/>
                <p:cNvSpPr/>
                <p:nvPr/>
              </p:nvSpPr>
              <p:spPr>
                <a:xfrm>
                  <a:off x="4568952" y="400507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" name="Oval 59"/>
                <p:cNvSpPr/>
                <p:nvPr/>
              </p:nvSpPr>
              <p:spPr>
                <a:xfrm>
                  <a:off x="4477512" y="410413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1" name="Oval 60"/>
                <p:cNvSpPr/>
                <p:nvPr/>
              </p:nvSpPr>
              <p:spPr>
                <a:xfrm>
                  <a:off x="4568952" y="410413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2" name="Oval 61"/>
                <p:cNvSpPr/>
                <p:nvPr/>
              </p:nvSpPr>
              <p:spPr>
                <a:xfrm>
                  <a:off x="4477512" y="420319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3" name="Oval 62"/>
                <p:cNvSpPr/>
                <p:nvPr/>
              </p:nvSpPr>
              <p:spPr>
                <a:xfrm>
                  <a:off x="4568952" y="4203192"/>
                  <a:ext cx="36576" cy="36576"/>
                </a:xfrm>
                <a:prstGeom prst="ellipse">
                  <a:avLst/>
                </a:prstGeom>
                <a:solidFill>
                  <a:srgbClr val="E7F5F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4" name="TextBox 63"/>
              <p:cNvSpPr txBox="1"/>
              <p:nvPr/>
            </p:nvSpPr>
            <p:spPr>
              <a:xfrm>
                <a:off x="571500" y="2994660"/>
                <a:ext cx="1790700" cy="37338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l">
                  <a:lnSpc>
                    <a:spcPts val="253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80" b="1">
                    <a:solidFill>
                      <a:srgbClr val="007F86"/>
                    </a:solidFill>
                    <a:latin typeface="Yu Gothic"/>
                    <a:ea typeface="Yu Gothic"/>
                  </a:rPr>
                  <a:t>触覚センサ</a:t>
                </a: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594360" y="3406140"/>
                <a:ext cx="1638300" cy="34290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l">
                  <a:lnSpc>
                    <a:spcPts val="19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00" b="0">
                    <a:solidFill>
                      <a:srgbClr val="617689"/>
                    </a:solidFill>
                    <a:latin typeface="Yu Gothic"/>
                    <a:ea typeface="Yu Gothic"/>
                  </a:rPr>
                  <a:t>表面に配置</a:t>
                </a:r>
              </a:p>
            </p:txBody>
          </p:sp>
          <p:sp>
            <p:nvSpPr>
              <p:cNvPr id="66" name="Freeform 65"/>
              <p:cNvSpPr/>
              <p:nvPr/>
            </p:nvSpPr>
            <p:spPr>
              <a:xfrm>
                <a:off x="1524000" y="3771900"/>
                <a:ext cx="906780" cy="22098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9">
                    <a:moveTo>
                      <a:pt x="0" y="0"/>
                    </a:moveTo>
                    <a:lnTo>
                      <a:pt x="51" y="20"/>
                    </a:lnTo>
                    <a:lnTo>
                      <a:pt x="119" y="29"/>
                    </a:lnTo>
                  </a:path>
                </a:pathLst>
              </a:custGeom>
              <a:noFill/>
              <a:ln w="22859">
                <a:solidFill>
                  <a:srgbClr val="007F8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2392680" y="3954780"/>
                <a:ext cx="76200" cy="76200"/>
              </a:xfrm>
              <a:prstGeom prst="ellipse">
                <a:avLst/>
              </a:prstGeom>
              <a:solidFill>
                <a:srgbClr val="007F8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8" name="接触と力と滑りを示す矢印"/>
            <p:cNvGrpSpPr/>
            <p:nvPr/>
          </p:nvGrpSpPr>
          <p:grpSpPr>
            <a:xfrm>
              <a:off x="4175760" y="3947160"/>
              <a:ext cx="655320" cy="563880"/>
              <a:chOff x="4175760" y="3947160"/>
              <a:chExt cx="655320" cy="563880"/>
            </a:xfrm>
          </p:grpSpPr>
          <p:sp>
            <p:nvSpPr>
              <p:cNvPr id="69" name="Freeform 68"/>
              <p:cNvSpPr/>
              <p:nvPr/>
            </p:nvSpPr>
            <p:spPr>
              <a:xfrm>
                <a:off x="4175760" y="4000500"/>
                <a:ext cx="3048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0" h="0">
                    <a:moveTo>
                      <a:pt x="0" y="0"/>
                    </a:moveTo>
                    <a:lnTo>
                      <a:pt x="40" y="0"/>
                    </a:lnTo>
                  </a:path>
                </a:pathLst>
              </a:custGeom>
              <a:noFill/>
              <a:ln w="38100">
                <a:solidFill>
                  <a:srgbClr val="D86B3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Freeform 69"/>
              <p:cNvSpPr/>
              <p:nvPr/>
            </p:nvSpPr>
            <p:spPr>
              <a:xfrm>
                <a:off x="4381500" y="3947160"/>
                <a:ext cx="99060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>
                    <a:moveTo>
                      <a:pt x="13" y="7"/>
                    </a:moveTo>
                    <a:lnTo>
                      <a:pt x="0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D86B3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Freeform 70"/>
              <p:cNvSpPr/>
              <p:nvPr/>
            </p:nvSpPr>
            <p:spPr>
              <a:xfrm>
                <a:off x="4777740" y="4160520"/>
                <a:ext cx="0" cy="350520"/>
              </a:xfrm>
              <a:custGeom>
                <a:avLst/>
                <a:gdLst/>
                <a:ahLst/>
                <a:cxnLst/>
                <a:rect l="l" t="t" r="r" b="b"/>
                <a:pathLst>
                  <a:path w="0" h="46">
                    <a:moveTo>
                      <a:pt x="0" y="46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D86B3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Freeform 71"/>
              <p:cNvSpPr/>
              <p:nvPr/>
            </p:nvSpPr>
            <p:spPr>
              <a:xfrm>
                <a:off x="4724400" y="4160520"/>
                <a:ext cx="10668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14" h="13">
                    <a:moveTo>
                      <a:pt x="7" y="0"/>
                    </a:moveTo>
                    <a:lnTo>
                      <a:pt x="0" y="13"/>
                    </a:lnTo>
                    <a:lnTo>
                      <a:pt x="14" y="13"/>
                    </a:lnTo>
                    <a:close/>
                  </a:path>
                </a:pathLst>
              </a:custGeom>
              <a:solidFill>
                <a:srgbClr val="D86B3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3" name="説明への引出線"/>
            <p:cNvGrpSpPr/>
            <p:nvPr/>
          </p:nvGrpSpPr>
          <p:grpSpPr>
            <a:xfrm>
              <a:off x="4610100" y="2308860"/>
              <a:ext cx="1950720" cy="2667000"/>
              <a:chOff x="4610100" y="2308860"/>
              <a:chExt cx="1950720" cy="2667000"/>
            </a:xfrm>
          </p:grpSpPr>
          <p:sp>
            <p:nvSpPr>
              <p:cNvPr id="74" name="Freeform 73"/>
              <p:cNvSpPr/>
              <p:nvPr/>
            </p:nvSpPr>
            <p:spPr>
              <a:xfrm>
                <a:off x="4655820" y="2308860"/>
                <a:ext cx="1905000" cy="14478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90">
                    <a:moveTo>
                      <a:pt x="0" y="190"/>
                    </a:moveTo>
                    <a:lnTo>
                      <a:pt x="164" y="0"/>
                    </a:lnTo>
                    <a:lnTo>
                      <a:pt x="250" y="0"/>
                    </a:lnTo>
                  </a:path>
                </a:pathLst>
              </a:custGeom>
              <a:noFill/>
              <a:ln w="22859">
                <a:solidFill>
                  <a:srgbClr val="142C4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4610100" y="3710940"/>
                <a:ext cx="91440" cy="91440"/>
              </a:xfrm>
              <a:prstGeom prst="ellipse">
                <a:avLst/>
              </a:prstGeom>
              <a:solidFill>
                <a:srgbClr val="142C44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Freeform 75"/>
              <p:cNvSpPr/>
              <p:nvPr/>
            </p:nvSpPr>
            <p:spPr>
              <a:xfrm>
                <a:off x="4655820" y="3642360"/>
                <a:ext cx="1905000" cy="36576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">
                    <a:moveTo>
                      <a:pt x="0" y="48"/>
                    </a:moveTo>
                    <a:lnTo>
                      <a:pt x="164" y="0"/>
                    </a:lnTo>
                    <a:lnTo>
                      <a:pt x="250" y="0"/>
                    </a:lnTo>
                  </a:path>
                </a:pathLst>
              </a:custGeom>
              <a:noFill/>
              <a:ln w="22859">
                <a:solidFill>
                  <a:srgbClr val="142C4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4610100" y="3962400"/>
                <a:ext cx="91440" cy="91440"/>
              </a:xfrm>
              <a:prstGeom prst="ellipse">
                <a:avLst/>
              </a:prstGeom>
              <a:solidFill>
                <a:srgbClr val="142C44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Freeform 77"/>
              <p:cNvSpPr/>
              <p:nvPr/>
            </p:nvSpPr>
            <p:spPr>
              <a:xfrm>
                <a:off x="4655820" y="4259580"/>
                <a:ext cx="1905000" cy="71628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94">
                    <a:moveTo>
                      <a:pt x="0" y="0"/>
                    </a:moveTo>
                    <a:lnTo>
                      <a:pt x="164" y="94"/>
                    </a:lnTo>
                    <a:lnTo>
                      <a:pt x="250" y="94"/>
                    </a:lnTo>
                  </a:path>
                </a:pathLst>
              </a:custGeom>
              <a:noFill/>
              <a:ln w="22859">
                <a:solidFill>
                  <a:srgbClr val="142C4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4610100" y="4213860"/>
                <a:ext cx="91440" cy="91440"/>
              </a:xfrm>
              <a:prstGeom prst="ellipse">
                <a:avLst/>
              </a:prstGeom>
              <a:solidFill>
                <a:srgbClr val="142C44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0" name="接触の説明（図形＋テキスト）"/>
            <p:cNvGrpSpPr/>
            <p:nvPr/>
          </p:nvGrpSpPr>
          <p:grpSpPr>
            <a:xfrm>
              <a:off x="6553200" y="1783080"/>
              <a:ext cx="5105400" cy="1104900"/>
              <a:chOff x="6553200" y="1783080"/>
              <a:chExt cx="5105400" cy="1104900"/>
            </a:xfrm>
          </p:grpSpPr>
          <p:sp>
            <p:nvSpPr>
              <p:cNvPr id="81" name="Rounded Rectangle 80"/>
              <p:cNvSpPr/>
              <p:nvPr/>
            </p:nvSpPr>
            <p:spPr>
              <a:xfrm>
                <a:off x="6553200" y="1783080"/>
                <a:ext cx="5105400" cy="1104900"/>
              </a:xfrm>
              <a:prstGeom prst="roundRect">
                <a:avLst>
                  <a:gd name="adj" fmla="val 12000"/>
                </a:avLst>
              </a:prstGeom>
              <a:solidFill>
                <a:srgbClr val="F7F9F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Rounded Rectangle 81"/>
              <p:cNvSpPr/>
              <p:nvPr/>
            </p:nvSpPr>
            <p:spPr>
              <a:xfrm>
                <a:off x="6812280" y="2529840"/>
                <a:ext cx="845820" cy="129540"/>
              </a:xfrm>
              <a:prstGeom prst="roundRect">
                <a:avLst>
                  <a:gd name="adj" fmla="val 12000"/>
                </a:avLst>
              </a:prstGeom>
              <a:solidFill>
                <a:srgbClr val="F2AA6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Rounded Rectangle 82"/>
              <p:cNvSpPr/>
              <p:nvPr/>
            </p:nvSpPr>
            <p:spPr>
              <a:xfrm>
                <a:off x="7063740" y="1958340"/>
                <a:ext cx="350520" cy="518160"/>
              </a:xfrm>
              <a:prstGeom prst="roundRect">
                <a:avLst>
                  <a:gd name="adj" fmla="val 12000"/>
                </a:avLst>
              </a:prstGeom>
              <a:solidFill>
                <a:srgbClr val="E0F0EF"/>
              </a:solidFill>
              <a:ln w="15240">
                <a:solidFill>
                  <a:srgbClr val="007F8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Rounded Rectangle 83"/>
              <p:cNvSpPr/>
              <p:nvPr/>
            </p:nvSpPr>
            <p:spPr>
              <a:xfrm>
                <a:off x="7101840" y="2331720"/>
                <a:ext cx="274320" cy="114300"/>
              </a:xfrm>
              <a:prstGeom prst="roundRect">
                <a:avLst>
                  <a:gd name="adj" fmla="val 12000"/>
                </a:avLst>
              </a:prstGeom>
              <a:solidFill>
                <a:srgbClr val="007F8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Freeform 84"/>
              <p:cNvSpPr/>
              <p:nvPr/>
            </p:nvSpPr>
            <p:spPr>
              <a:xfrm>
                <a:off x="7178040" y="2484120"/>
                <a:ext cx="121920" cy="15240"/>
              </a:xfrm>
              <a:custGeom>
                <a:avLst/>
                <a:gdLst/>
                <a:ahLst/>
                <a:cxnLst/>
                <a:rect l="l" t="t" r="r" b="b"/>
                <a:pathLst>
                  <a:path w="16" h="2">
                    <a:moveTo>
                      <a:pt x="16" y="0"/>
                    </a:moveTo>
                    <a:lnTo>
                      <a:pt x="16" y="0"/>
                    </a:lnTo>
                    <a:lnTo>
                      <a:pt x="16" y="1"/>
                    </a:lnTo>
                    <a:lnTo>
                      <a:pt x="15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3" y="2"/>
                    </a:lnTo>
                    <a:lnTo>
                      <a:pt x="12" y="2"/>
                    </a:lnTo>
                    <a:lnTo>
                      <a:pt x="10" y="2"/>
                    </a:lnTo>
                    <a:lnTo>
                      <a:pt x="9" y="2"/>
                    </a:lnTo>
                    <a:lnTo>
                      <a:pt x="8" y="2"/>
                    </a:lnTo>
                    <a:lnTo>
                      <a:pt x="7" y="2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D86B3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Freeform 85"/>
              <p:cNvSpPr/>
              <p:nvPr/>
            </p:nvSpPr>
            <p:spPr>
              <a:xfrm>
                <a:off x="7117080" y="2484120"/>
                <a:ext cx="24384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2" h="5">
                    <a:moveTo>
                      <a:pt x="32" y="0"/>
                    </a:moveTo>
                    <a:lnTo>
                      <a:pt x="32" y="1"/>
                    </a:lnTo>
                    <a:lnTo>
                      <a:pt x="31" y="1"/>
                    </a:lnTo>
                    <a:lnTo>
                      <a:pt x="30" y="2"/>
                    </a:lnTo>
                    <a:lnTo>
                      <a:pt x="29" y="3"/>
                    </a:lnTo>
                    <a:lnTo>
                      <a:pt x="27" y="3"/>
                    </a:lnTo>
                    <a:lnTo>
                      <a:pt x="25" y="4"/>
                    </a:lnTo>
                    <a:lnTo>
                      <a:pt x="23" y="4"/>
                    </a:lnTo>
                    <a:lnTo>
                      <a:pt x="21" y="5"/>
                    </a:lnTo>
                    <a:lnTo>
                      <a:pt x="19" y="5"/>
                    </a:lnTo>
                    <a:lnTo>
                      <a:pt x="16" y="5"/>
                    </a:lnTo>
                    <a:lnTo>
                      <a:pt x="13" y="5"/>
                    </a:lnTo>
                    <a:lnTo>
                      <a:pt x="11" y="5"/>
                    </a:lnTo>
                    <a:lnTo>
                      <a:pt x="9" y="4"/>
                    </a:lnTo>
                    <a:lnTo>
                      <a:pt x="7" y="4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2" y="2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D86B3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8001000" y="1958340"/>
                <a:ext cx="3352800" cy="44196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l">
                  <a:lnSpc>
                    <a:spcPts val="3148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460" b="1">
                    <a:solidFill>
                      <a:srgbClr val="142C44"/>
                    </a:solidFill>
                    <a:latin typeface="Yu Gothic"/>
                    <a:ea typeface="Yu Gothic"/>
                  </a:rPr>
                  <a:t>接触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8016240" y="2438400"/>
                <a:ext cx="3390900" cy="33528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l">
                  <a:lnSpc>
                    <a:spcPts val="2073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20" b="0">
                    <a:solidFill>
                      <a:srgbClr val="617689"/>
                    </a:solidFill>
                    <a:latin typeface="Yu Gothic"/>
                    <a:ea typeface="Yu Gothic"/>
                  </a:rPr>
                  <a:t>触れたかどうか</a:t>
                </a:r>
              </a:p>
            </p:txBody>
          </p:sp>
        </p:grpSp>
        <p:grpSp>
          <p:nvGrpSpPr>
            <p:cNvPr id="89" name="押す力の説明（図形＋テキスト）"/>
            <p:cNvGrpSpPr/>
            <p:nvPr/>
          </p:nvGrpSpPr>
          <p:grpSpPr>
            <a:xfrm>
              <a:off x="6553200" y="3116580"/>
              <a:ext cx="5105400" cy="1104900"/>
              <a:chOff x="6553200" y="3116580"/>
              <a:chExt cx="5105400" cy="1104900"/>
            </a:xfrm>
          </p:grpSpPr>
          <p:sp>
            <p:nvSpPr>
              <p:cNvPr id="90" name="Rounded Rectangle 89"/>
              <p:cNvSpPr/>
              <p:nvPr/>
            </p:nvSpPr>
            <p:spPr>
              <a:xfrm>
                <a:off x="6553200" y="3116580"/>
                <a:ext cx="5105400" cy="1104900"/>
              </a:xfrm>
              <a:prstGeom prst="roundRect">
                <a:avLst>
                  <a:gd name="adj" fmla="val 12000"/>
                </a:avLst>
              </a:prstGeom>
              <a:solidFill>
                <a:srgbClr val="F7F9F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Rounded Rectangle 90"/>
              <p:cNvSpPr/>
              <p:nvPr/>
            </p:nvSpPr>
            <p:spPr>
              <a:xfrm>
                <a:off x="6812280" y="3863340"/>
                <a:ext cx="845820" cy="129540"/>
              </a:xfrm>
              <a:prstGeom prst="roundRect">
                <a:avLst>
                  <a:gd name="adj" fmla="val 12000"/>
                </a:avLst>
              </a:prstGeom>
              <a:solidFill>
                <a:srgbClr val="F2AA6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Rounded Rectangle 91"/>
              <p:cNvSpPr/>
              <p:nvPr/>
            </p:nvSpPr>
            <p:spPr>
              <a:xfrm>
                <a:off x="7063740" y="3291840"/>
                <a:ext cx="350520" cy="518160"/>
              </a:xfrm>
              <a:prstGeom prst="roundRect">
                <a:avLst>
                  <a:gd name="adj" fmla="val 12000"/>
                </a:avLst>
              </a:prstGeom>
              <a:solidFill>
                <a:srgbClr val="E0F0EF"/>
              </a:solidFill>
              <a:ln w="15240">
                <a:solidFill>
                  <a:srgbClr val="007F8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Rounded Rectangle 92"/>
              <p:cNvSpPr/>
              <p:nvPr/>
            </p:nvSpPr>
            <p:spPr>
              <a:xfrm>
                <a:off x="7101840" y="3665220"/>
                <a:ext cx="274320" cy="114300"/>
              </a:xfrm>
              <a:prstGeom prst="roundRect">
                <a:avLst>
                  <a:gd name="adj" fmla="val 12000"/>
                </a:avLst>
              </a:prstGeom>
              <a:solidFill>
                <a:srgbClr val="007F8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Freeform 93"/>
              <p:cNvSpPr/>
              <p:nvPr/>
            </p:nvSpPr>
            <p:spPr>
              <a:xfrm>
                <a:off x="6934200" y="3444240"/>
                <a:ext cx="0" cy="358140"/>
              </a:xfrm>
              <a:custGeom>
                <a:avLst/>
                <a:gdLst/>
                <a:ahLst/>
                <a:cxnLst/>
                <a:rect l="l" t="t" r="r" b="b"/>
                <a:pathLst>
                  <a:path w="0" h="47">
                    <a:moveTo>
                      <a:pt x="0" y="0"/>
                    </a:moveTo>
                    <a:lnTo>
                      <a:pt x="0" y="47"/>
                    </a:lnTo>
                  </a:path>
                </a:pathLst>
              </a:custGeom>
              <a:noFill/>
              <a:ln w="30480">
                <a:solidFill>
                  <a:srgbClr val="D86B3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Freeform 94"/>
              <p:cNvSpPr/>
              <p:nvPr/>
            </p:nvSpPr>
            <p:spPr>
              <a:xfrm>
                <a:off x="6888480" y="3718560"/>
                <a:ext cx="91440" cy="83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11">
                    <a:moveTo>
                      <a:pt x="6" y="11"/>
                    </a:move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6B3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Freeform 95"/>
              <p:cNvSpPr/>
              <p:nvPr/>
            </p:nvSpPr>
            <p:spPr>
              <a:xfrm>
                <a:off x="7543800" y="3444240"/>
                <a:ext cx="0" cy="358140"/>
              </a:xfrm>
              <a:custGeom>
                <a:avLst/>
                <a:gdLst/>
                <a:ahLst/>
                <a:cxnLst/>
                <a:rect l="l" t="t" r="r" b="b"/>
                <a:pathLst>
                  <a:path w="0" h="47">
                    <a:moveTo>
                      <a:pt x="0" y="0"/>
                    </a:moveTo>
                    <a:lnTo>
                      <a:pt x="0" y="47"/>
                    </a:lnTo>
                  </a:path>
                </a:pathLst>
              </a:custGeom>
              <a:noFill/>
              <a:ln w="30480">
                <a:solidFill>
                  <a:srgbClr val="D86B3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Freeform 96"/>
              <p:cNvSpPr/>
              <p:nvPr/>
            </p:nvSpPr>
            <p:spPr>
              <a:xfrm>
                <a:off x="7498080" y="3718560"/>
                <a:ext cx="91440" cy="83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11">
                    <a:moveTo>
                      <a:pt x="6" y="11"/>
                    </a:move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6B3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8001000" y="3291840"/>
                <a:ext cx="3352800" cy="44196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l">
                  <a:lnSpc>
                    <a:spcPts val="3148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460" b="1">
                    <a:solidFill>
                      <a:srgbClr val="142C44"/>
                    </a:solidFill>
                    <a:latin typeface="Yu Gothic"/>
                    <a:ea typeface="Yu Gothic"/>
                  </a:rPr>
                  <a:t>押す力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8016240" y="3771900"/>
                <a:ext cx="3390900" cy="33528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l">
                  <a:lnSpc>
                    <a:spcPts val="2073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20" b="0">
                    <a:solidFill>
                      <a:srgbClr val="617689"/>
                    </a:solidFill>
                    <a:latin typeface="Yu Gothic"/>
                    <a:ea typeface="Yu Gothic"/>
                  </a:rPr>
                  <a:t>どれくらい押されているか</a:t>
                </a:r>
              </a:p>
            </p:txBody>
          </p:sp>
        </p:grpSp>
        <p:grpSp>
          <p:nvGrpSpPr>
            <p:cNvPr id="100" name="滑りの説明（図形＋テキスト）"/>
            <p:cNvGrpSpPr/>
            <p:nvPr/>
          </p:nvGrpSpPr>
          <p:grpSpPr>
            <a:xfrm>
              <a:off x="6553200" y="4450080"/>
              <a:ext cx="5105400" cy="1104900"/>
              <a:chOff x="6553200" y="4450080"/>
              <a:chExt cx="5105400" cy="1104900"/>
            </a:xfrm>
          </p:grpSpPr>
          <p:sp>
            <p:nvSpPr>
              <p:cNvPr id="101" name="Rounded Rectangle 100"/>
              <p:cNvSpPr/>
              <p:nvPr/>
            </p:nvSpPr>
            <p:spPr>
              <a:xfrm>
                <a:off x="6553200" y="4450080"/>
                <a:ext cx="5105400" cy="1104900"/>
              </a:xfrm>
              <a:prstGeom prst="roundRect">
                <a:avLst>
                  <a:gd name="adj" fmla="val 12000"/>
                </a:avLst>
              </a:prstGeom>
              <a:solidFill>
                <a:srgbClr val="F7F9F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Rounded Rectangle 101"/>
              <p:cNvSpPr/>
              <p:nvPr/>
            </p:nvSpPr>
            <p:spPr>
              <a:xfrm>
                <a:off x="6812280" y="5196840"/>
                <a:ext cx="845820" cy="129540"/>
              </a:xfrm>
              <a:prstGeom prst="roundRect">
                <a:avLst>
                  <a:gd name="adj" fmla="val 12000"/>
                </a:avLst>
              </a:prstGeom>
              <a:solidFill>
                <a:srgbClr val="F2AA6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Rounded Rectangle 102"/>
              <p:cNvSpPr/>
              <p:nvPr/>
            </p:nvSpPr>
            <p:spPr>
              <a:xfrm>
                <a:off x="7063740" y="4625340"/>
                <a:ext cx="350520" cy="518160"/>
              </a:xfrm>
              <a:prstGeom prst="roundRect">
                <a:avLst>
                  <a:gd name="adj" fmla="val 12000"/>
                </a:avLst>
              </a:prstGeom>
              <a:solidFill>
                <a:srgbClr val="E0F0EF"/>
              </a:solidFill>
              <a:ln w="15240">
                <a:solidFill>
                  <a:srgbClr val="007F8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Rounded Rectangle 103"/>
              <p:cNvSpPr/>
              <p:nvPr/>
            </p:nvSpPr>
            <p:spPr>
              <a:xfrm>
                <a:off x="7101840" y="4998720"/>
                <a:ext cx="274320" cy="114300"/>
              </a:xfrm>
              <a:prstGeom prst="roundRect">
                <a:avLst>
                  <a:gd name="adj" fmla="val 12000"/>
                </a:avLst>
              </a:prstGeom>
              <a:solidFill>
                <a:srgbClr val="007F8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Freeform 104"/>
              <p:cNvSpPr/>
              <p:nvPr/>
            </p:nvSpPr>
            <p:spPr>
              <a:xfrm>
                <a:off x="6903720" y="4853940"/>
                <a:ext cx="2438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2" h="0">
                    <a:moveTo>
                      <a:pt x="0" y="0"/>
                    </a:moveTo>
                    <a:lnTo>
                      <a:pt x="32" y="0"/>
                    </a:lnTo>
                  </a:path>
                </a:pathLst>
              </a:custGeom>
              <a:noFill/>
              <a:ln w="30480">
                <a:solidFill>
                  <a:srgbClr val="D86B3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Freeform 105"/>
              <p:cNvSpPr/>
              <p:nvPr/>
            </p:nvSpPr>
            <p:spPr>
              <a:xfrm>
                <a:off x="7071360" y="481584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0" h="10">
                    <a:moveTo>
                      <a:pt x="10" y="5"/>
                    </a:moveTo>
                    <a:lnTo>
                      <a:pt x="0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D86B3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Freeform 106"/>
              <p:cNvSpPr/>
              <p:nvPr/>
            </p:nvSpPr>
            <p:spPr>
              <a:xfrm>
                <a:off x="7322820" y="4853940"/>
                <a:ext cx="2438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2" h="0">
                    <a:moveTo>
                      <a:pt x="0" y="0"/>
                    </a:moveTo>
                    <a:lnTo>
                      <a:pt x="32" y="0"/>
                    </a:lnTo>
                  </a:path>
                </a:pathLst>
              </a:custGeom>
              <a:noFill/>
              <a:ln w="30480">
                <a:solidFill>
                  <a:srgbClr val="D86B3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Freeform 107"/>
              <p:cNvSpPr/>
              <p:nvPr/>
            </p:nvSpPr>
            <p:spPr>
              <a:xfrm>
                <a:off x="7490460" y="481584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0" h="10">
                    <a:moveTo>
                      <a:pt x="10" y="5"/>
                    </a:moveTo>
                    <a:lnTo>
                      <a:pt x="0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D86B3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TextBox 108"/>
              <p:cNvSpPr txBox="1"/>
              <p:nvPr/>
            </p:nvSpPr>
            <p:spPr>
              <a:xfrm>
                <a:off x="8001000" y="4625340"/>
                <a:ext cx="3352800" cy="44196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l">
                  <a:lnSpc>
                    <a:spcPts val="3148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460" b="1">
                    <a:solidFill>
                      <a:srgbClr val="142C44"/>
                    </a:solidFill>
                    <a:latin typeface="Yu Gothic"/>
                    <a:ea typeface="Yu Gothic"/>
                  </a:rPr>
                  <a:t>滑り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8016240" y="5105400"/>
                <a:ext cx="3390900" cy="33528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l">
                  <a:lnSpc>
                    <a:spcPts val="2073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20" b="0">
                    <a:solidFill>
                      <a:srgbClr val="617689"/>
                    </a:solidFill>
                    <a:latin typeface="Yu Gothic"/>
                    <a:ea typeface="Yu Gothic"/>
                  </a:rPr>
                  <a:t>接触面がずれているか</a:t>
                </a:r>
              </a:p>
            </p:txBody>
          </p:sp>
        </p:grpSp>
        <p:grpSp>
          <p:nvGrpSpPr>
            <p:cNvPr id="111" name="図の要点"/>
            <p:cNvGrpSpPr/>
            <p:nvPr/>
          </p:nvGrpSpPr>
          <p:grpSpPr>
            <a:xfrm>
              <a:off x="533400" y="6096000"/>
              <a:ext cx="11125200" cy="480060"/>
              <a:chOff x="533400" y="6096000"/>
              <a:chExt cx="11125200" cy="480060"/>
            </a:xfrm>
          </p:grpSpPr>
          <p:sp>
            <p:nvSpPr>
              <p:cNvPr id="112" name="Rounded Rectangle 111"/>
              <p:cNvSpPr/>
              <p:nvPr/>
            </p:nvSpPr>
            <p:spPr>
              <a:xfrm>
                <a:off x="533400" y="6096000"/>
                <a:ext cx="11125200" cy="480060"/>
              </a:xfrm>
              <a:prstGeom prst="roundRect">
                <a:avLst>
                  <a:gd name="adj" fmla="val 12000"/>
                </a:avLst>
              </a:prstGeom>
              <a:solidFill>
                <a:srgbClr val="E7F5F4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>
                <a:off x="685800" y="6187440"/>
                <a:ext cx="10820400" cy="32766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ts val="23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59" b="1">
                    <a:solidFill>
                      <a:srgbClr val="007F86"/>
                    </a:solidFill>
                    <a:latin typeface="Yu Gothic"/>
                    <a:ea typeface="Yu Gothic"/>
                  </a:rPr>
                  <a:t>触覚センサは、外受容感覚を担うセンサの一例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ソフトロボットの外受容感覚を担う触覚センサ（編集可能な図形）</dc:title>
  <dc:subject/>
  <dc:creator>大橋 怜倭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